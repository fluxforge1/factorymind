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5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3200400" cy="3200400"/>
          </a:xfrm>
          <a:prstGeom prst="ellipse">
            <a:avLst/>
          </a:prstGeom>
          <a:solidFill>
            <a:srgbClr val="48E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577840"/>
            <a:ext cx="2194560" cy="2194560"/>
          </a:xfrm>
          <a:prstGeom prst="ellipse">
            <a:avLst/>
          </a:prstGeom>
          <a:solidFill>
            <a:srgbClr val="53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19" b="1" i="0">
                <a:solidFill>
                  <a:srgbClr val="48E2C1"/>
                </a:solidFill>
                <a:latin typeface="Aptos"/>
              </a:defRPr>
            </a:pPr>
            <a:r>
              <a:t>FACTORYMIND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81360" y="310896"/>
            <a:ext cx="640080" cy="0"/>
          </a:xfrm>
          <a:prstGeom prst="line">
            <a:avLst/>
          </a:prstGeom>
          <a:ln w="26670">
            <a:solidFill>
              <a:srgbClr val="48E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877824"/>
            <a:ext cx="5760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1" i="0">
                <a:solidFill>
                  <a:srgbClr val="48E2C1"/>
                </a:solidFill>
                <a:latin typeface="Aptos"/>
              </a:defRPr>
            </a:pPr>
            <a:r>
              <a:t>SMART MANUFACTURING • INDUSTRIAL ENERGY &amp; PROCESS EFFICIENCY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25296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4200" b="1" i="0">
                <a:solidFill>
                  <a:srgbClr val="F4F9FC"/>
                </a:solidFill>
                <a:latin typeface="Aptos Display"/>
              </a:defRPr>
            </a:pPr>
            <a:r>
              <a:t>FactoryMind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83664"/>
            <a:ext cx="55321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400" b="1" i="0">
                <a:solidFill>
                  <a:srgbClr val="549FFF"/>
                </a:solidFill>
                <a:latin typeface="Aptos Display"/>
              </a:defRPr>
            </a:pPr>
            <a:r>
              <a:t>From machine risk to factory decarbonisation.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578608"/>
            <a:ext cx="5212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20" b="0" i="0">
                <a:solidFill>
                  <a:srgbClr val="97B0BC"/>
                </a:solidFill>
                <a:latin typeface="Aptos"/>
              </a:defRPr>
            </a:pPr>
            <a:r>
              <a:t>An operating decision center for Indian SMEs that connects machine condition, factory consequence, energy efficiency and carbon intelligence in one loop.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721608"/>
            <a:ext cx="3310128" cy="329184"/>
          </a:xfrm>
          <a:prstGeom prst="roundRect">
            <a:avLst/>
          </a:prstGeom>
          <a:solidFill>
            <a:srgbClr val="0D2635"/>
          </a:solidFill>
          <a:ln w="11430">
            <a:solidFill>
              <a:srgbClr val="48E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730752"/>
            <a:ext cx="331012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30" b="1" i="0">
                <a:solidFill>
                  <a:srgbClr val="48E2C1"/>
                </a:solidFill>
                <a:latin typeface="Aptos"/>
              </a:defRPr>
            </a:pPr>
            <a:r>
              <a:t>OBSERVE → EXPLAIN → DECIDE → OPTIMIZE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31596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9" b="1" i="0">
                <a:solidFill>
                  <a:srgbClr val="48E2C1"/>
                </a:solidFill>
                <a:latin typeface="Aptos"/>
              </a:defRPr>
            </a:pPr>
            <a:r>
              <a:t>Built for the decision moment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599432"/>
            <a:ext cx="51663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70" b="1" i="0">
                <a:solidFill>
                  <a:srgbClr val="F4F9FC"/>
                </a:solidFill>
                <a:latin typeface="Aptos"/>
              </a:defRPr>
            </a:pPr>
            <a:r>
              <a:t>Not just “is the machine risky?” — but “what should the factory do next?”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5669280"/>
            <a:ext cx="1737360" cy="301752"/>
          </a:xfrm>
          <a:prstGeom prst="roundRect">
            <a:avLst/>
          </a:prstGeom>
          <a:solidFill>
            <a:srgbClr val="07141E"/>
          </a:solidFill>
          <a:ln w="11430">
            <a:solidFill>
              <a:srgbClr val="48E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5678424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00" b="1" i="0">
                <a:solidFill>
                  <a:srgbClr val="4CE3C2"/>
                </a:solidFill>
                <a:latin typeface="Aptos"/>
              </a:defRPr>
            </a:pPr>
            <a:r>
              <a:t>TEAM FLUXFORGE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1152" y="6035040"/>
            <a:ext cx="43708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860" b="0" i="0">
                <a:solidFill>
                  <a:srgbClr val="F4F9FC"/>
                </a:solidFill>
                <a:latin typeface="Aptos"/>
              </a:defRPr>
            </a:pPr>
            <a:r>
              <a:t>Ronit • Yogik • Rakesh • Shrikant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6400800"/>
            <a:ext cx="10863072" cy="0"/>
          </a:xfrm>
          <a:prstGeom prst="line">
            <a:avLst/>
          </a:prstGeom>
          <a:ln w="10160">
            <a:solidFill>
              <a:srgbClr val="1E3D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6473952"/>
            <a:ext cx="6400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40" b="0" i="0">
                <a:solidFill>
                  <a:srgbClr val="97B0BC"/>
                </a:solidFill>
                <a:latin typeface="Aptos"/>
              </a:defRPr>
            </a:pPr>
            <a:r>
              <a:t>FactoryMind • final 12-slide pitch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6473952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740" b="0" i="0">
                <a:solidFill>
                  <a:srgbClr val="97B0BC"/>
                </a:solidFill>
                <a:latin typeface="Aptos"/>
              </a:defRPr>
            </a:pPr>
            <a:r>
              <a:t>CHALLENGE 04 • INDUSTRIAL ENERGY &amp; PROCESS EFFICIENCY</a:t>
            </a:r>
          </a:p>
        </p:txBody>
      </p:sp>
      <p:pic>
        <p:nvPicPr>
          <p:cNvPr id="23" name="Picture 22" descr="Screenshot 2026-10-02 1227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554480"/>
            <a:ext cx="5074920" cy="237744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419088" y="1554480"/>
            <a:ext cx="5074920" cy="2377440"/>
          </a:xfrm>
          <a:prstGeom prst="rect">
            <a:avLst/>
          </a:prstGeom>
          <a:noFill/>
          <a:ln w="11430">
            <a:solidFill>
              <a:srgbClr val="4CE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4050791"/>
            <a:ext cx="5074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 b="1">
                <a:solidFill>
                  <a:srgbClr val="4CE3C2"/>
                </a:solidFill>
                <a:latin typeface="Aptos"/>
              </a:defRPr>
            </a:pPr>
            <a:r>
              <a:t>LIVE PRODUCT VIEW  •  GOLDEN DEMO / CASE 4 • RUN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3200400" cy="3200400"/>
          </a:xfrm>
          <a:prstGeom prst="ellipse">
            <a:avLst/>
          </a:prstGeom>
          <a:solidFill>
            <a:srgbClr val="48E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577840"/>
            <a:ext cx="2194560" cy="2194560"/>
          </a:xfrm>
          <a:prstGeom prst="ellipse">
            <a:avLst/>
          </a:prstGeom>
          <a:solidFill>
            <a:srgbClr val="53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19" b="1" i="0">
                <a:solidFill>
                  <a:srgbClr val="48E2C1"/>
                </a:solidFill>
                <a:latin typeface="Aptos"/>
              </a:defRPr>
            </a:pPr>
            <a:r>
              <a:t>FACTORYMIND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81360" y="310896"/>
            <a:ext cx="640080" cy="0"/>
          </a:xfrm>
          <a:prstGeom prst="line">
            <a:avLst/>
          </a:prstGeom>
          <a:ln w="26670">
            <a:solidFill>
              <a:srgbClr val="48E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03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1" i="0">
                <a:solidFill>
                  <a:srgbClr val="48E2C1"/>
                </a:solidFill>
                <a:latin typeface="Aptos"/>
              </a:defRPr>
            </a:pPr>
            <a:r>
              <a:t>01 •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859536"/>
            <a:ext cx="107899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400" b="1" i="0">
                <a:solidFill>
                  <a:srgbClr val="F4F9FC"/>
                </a:solidFill>
                <a:latin typeface="Aptos Display"/>
              </a:defRPr>
            </a:pPr>
            <a:r>
              <a:t>The factory does not need another alert — it needs a better decision.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62456"/>
            <a:ext cx="10698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7B0BC"/>
                </a:solidFill>
                <a:latin typeface="Aptos"/>
              </a:defRPr>
            </a:pPr>
            <a:r>
              <a:t>Challenge 04 is about affordable, real-time energy visibility, predictive maintenance, process optimisation and decarbonisation without sacrificing competitiveness.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1399032"/>
            <a:ext cx="10863072" cy="0"/>
          </a:xfrm>
          <a:prstGeom prst="line">
            <a:avLst/>
          </a:prstGeom>
          <a:ln w="12700">
            <a:solidFill>
              <a:srgbClr val="1E3D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18520" y="59436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80" b="1" i="0">
                <a:solidFill>
                  <a:srgbClr val="97B0B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81051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 i="0">
                <a:solidFill>
                  <a:srgbClr val="48E2C1"/>
                </a:solidFill>
                <a:latin typeface="Aptos"/>
              </a:defRPr>
            </a:pPr>
            <a:r>
              <a:t>THE DECISION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39696"/>
            <a:ext cx="3566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 i="0">
                <a:solidFill>
                  <a:srgbClr val="F4F9FC"/>
                </a:solidFill>
                <a:latin typeface="Aptos Display"/>
              </a:defRPr>
            </a:pPr>
            <a:r>
              <a:t>Today, signals live in separate worlds.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06624"/>
            <a:ext cx="3977639" cy="603504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1E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2798064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30" b="1" i="0">
                <a:solidFill>
                  <a:srgbClr val="F2666C"/>
                </a:solidFill>
                <a:latin typeface="Aptos"/>
              </a:defRPr>
            </a:pPr>
            <a:r>
              <a:t>Machine alert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779776"/>
            <a:ext cx="22494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1" i="0">
                <a:solidFill>
                  <a:srgbClr val="F4F9FC"/>
                </a:solidFill>
                <a:latin typeface="Aptos"/>
              </a:defRPr>
            </a:pPr>
            <a:r>
              <a:t>“Something looks wrong.”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93008"/>
            <a:ext cx="3977639" cy="603504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1E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3584448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30" b="1" i="0">
                <a:solidFill>
                  <a:srgbClr val="F4BA40"/>
                </a:solidFill>
                <a:latin typeface="Aptos"/>
              </a:defRPr>
            </a:pPr>
            <a:r>
              <a:t>Production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566160"/>
            <a:ext cx="22494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1" i="0">
                <a:solidFill>
                  <a:srgbClr val="F4F9FC"/>
                </a:solidFill>
                <a:latin typeface="Aptos"/>
              </a:defRPr>
            </a:pPr>
            <a:r>
              <a:t>“What happens if it stops?”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79392"/>
            <a:ext cx="3977639" cy="603504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1E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4370831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30" b="1" i="0">
                <a:solidFill>
                  <a:srgbClr val="63DE97"/>
                </a:solidFill>
                <a:latin typeface="Aptos"/>
              </a:defRPr>
            </a:pPr>
            <a:r>
              <a:t>Energy insight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4352544"/>
            <a:ext cx="22494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1" i="0">
                <a:solidFill>
                  <a:srgbClr val="F4F9FC"/>
                </a:solidFill>
                <a:latin typeface="Aptos"/>
              </a:defRPr>
            </a:pPr>
            <a:r>
              <a:t>“Where is efficiency lost?”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28032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 i="0">
                <a:solidFill>
                  <a:srgbClr val="48E2C1"/>
                </a:solidFill>
                <a:latin typeface="Aptos"/>
              </a:defRPr>
            </a:pPr>
            <a:r>
              <a:t>WHO ACTUALLY USES THE DECISION?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138928"/>
            <a:ext cx="2331720" cy="566928"/>
          </a:xfrm>
          <a:prstGeom prst="roundRect">
            <a:avLst/>
          </a:prstGeom>
          <a:solidFill>
            <a:srgbClr val="0D2635"/>
          </a:solidFill>
          <a:ln w="12700">
            <a:solidFill>
              <a:srgbClr val="F4B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5239512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 i="0">
                <a:solidFill>
                  <a:srgbClr val="F4F9FC"/>
                </a:solidFill>
                <a:latin typeface="Aptos"/>
              </a:defRPr>
            </a:pPr>
            <a:r>
              <a:t>Plant Manager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5468112"/>
            <a:ext cx="1965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 i="0">
                <a:solidFill>
                  <a:srgbClr val="F4BA40"/>
                </a:solidFill>
                <a:latin typeface="Aptos"/>
              </a:defRPr>
            </a:pPr>
            <a:r>
              <a:t>business consequence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55848" y="5138928"/>
            <a:ext cx="2331720" cy="566928"/>
          </a:xfrm>
          <a:prstGeom prst="roundRect">
            <a:avLst/>
          </a:prstGeom>
          <a:solidFill>
            <a:srgbClr val="0D2635"/>
          </a:solidFill>
          <a:ln w="12700">
            <a:solidFill>
              <a:srgbClr val="53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83864" y="5239512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 i="0">
                <a:solidFill>
                  <a:srgbClr val="F4F9FC"/>
                </a:solidFill>
                <a:latin typeface="Aptos"/>
              </a:defRPr>
            </a:pPr>
            <a:r>
              <a:t>Maintenance Lead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83864" y="5468112"/>
            <a:ext cx="1965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 i="0">
                <a:solidFill>
                  <a:srgbClr val="539DFF"/>
                </a:solidFill>
                <a:latin typeface="Aptos"/>
              </a:defRPr>
            </a:pPr>
            <a:r>
              <a:t>intervention window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0176" y="5138928"/>
            <a:ext cx="2331720" cy="566928"/>
          </a:xfrm>
          <a:prstGeom prst="roundRect">
            <a:avLst/>
          </a:prstGeom>
          <a:solidFill>
            <a:srgbClr val="0D2635"/>
          </a:solidFill>
          <a:ln w="12700">
            <a:solidFill>
              <a:srgbClr val="48E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08192" y="5239512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 i="0">
                <a:solidFill>
                  <a:srgbClr val="F4F9FC"/>
                </a:solidFill>
                <a:latin typeface="Aptos"/>
              </a:defRPr>
            </a:pPr>
            <a:r>
              <a:t>Operator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08192" y="5468112"/>
            <a:ext cx="1965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 i="0">
                <a:solidFill>
                  <a:srgbClr val="48E2C1"/>
                </a:solidFill>
                <a:latin typeface="Aptos"/>
              </a:defRPr>
            </a:pPr>
            <a:r>
              <a:t>next action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04504" y="5138928"/>
            <a:ext cx="2331720" cy="566928"/>
          </a:xfrm>
          <a:prstGeom prst="roundRect">
            <a:avLst/>
          </a:prstGeom>
          <a:solidFill>
            <a:srgbClr val="0D2635"/>
          </a:solidFill>
          <a:ln w="12700">
            <a:solidFill>
              <a:srgbClr val="63D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32520" y="5239512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 i="0">
                <a:solidFill>
                  <a:srgbClr val="F4F9FC"/>
                </a:solidFill>
                <a:latin typeface="Aptos"/>
              </a:defRPr>
            </a:pPr>
            <a:r>
              <a:t>Energy Lead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5468112"/>
            <a:ext cx="1965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 i="0">
                <a:solidFill>
                  <a:srgbClr val="63DE97"/>
                </a:solidFill>
                <a:latin typeface="Aptos"/>
              </a:defRPr>
            </a:pPr>
            <a:r>
              <a:t>energy + carbon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74920" y="1874519"/>
            <a:ext cx="6309360" cy="2880360"/>
          </a:xfrm>
          <a:prstGeom prst="roundRect">
            <a:avLst/>
          </a:prstGeom>
          <a:solidFill>
            <a:srgbClr val="050E16"/>
          </a:solidFill>
          <a:ln w="12700">
            <a:solidFill>
              <a:srgbClr val="1E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21808" y="2093976"/>
            <a:ext cx="3840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1" i="0">
                <a:solidFill>
                  <a:srgbClr val="48E2C1"/>
                </a:solidFill>
                <a:latin typeface="Aptos"/>
              </a:defRPr>
            </a:pPr>
            <a:r>
              <a:t>CHALLENGE 04 • WHAT SUCCESS LOOKS LIKE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21808" y="2432304"/>
            <a:ext cx="53492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 i="0">
                <a:solidFill>
                  <a:srgbClr val="F4F9FC"/>
                </a:solidFill>
                <a:latin typeface="Aptos Display"/>
              </a:defRPr>
            </a:pPr>
            <a:r>
              <a:t>Reduce specific energy use — while protecting throughput, quality and competitiveness.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21808" y="3200400"/>
            <a:ext cx="1737360" cy="1051560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1E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13248" y="336499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 i="0">
                <a:solidFill>
                  <a:srgbClr val="63DE97"/>
                </a:solidFill>
                <a:latin typeface="Aptos Display"/>
              </a:defRPr>
            </a:pPr>
            <a:r>
              <a:t>35–40%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31536" y="3675887"/>
            <a:ext cx="151790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750" b="0" i="0">
                <a:solidFill>
                  <a:srgbClr val="F4F9FC"/>
                </a:solidFill>
                <a:latin typeface="Aptos"/>
              </a:defRPr>
            </a:pPr>
            <a:r>
              <a:t>of India’s energy is consumed by industry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42048" y="3200400"/>
            <a:ext cx="1737360" cy="1051560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1E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33488" y="336499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 i="0">
                <a:solidFill>
                  <a:srgbClr val="63DE97"/>
                </a:solidFill>
                <a:latin typeface="Aptos Display"/>
              </a:defRPr>
            </a:pPr>
            <a:r>
              <a:t>15–30%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51775" y="3675887"/>
            <a:ext cx="151790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750" b="0" i="0">
                <a:solidFill>
                  <a:srgbClr val="F4F9FC"/>
                </a:solidFill>
                <a:latin typeface="Aptos"/>
              </a:defRPr>
            </a:pPr>
            <a:r>
              <a:t>of production costs can come from energy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62288" y="3200400"/>
            <a:ext cx="1737360" cy="1051560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1E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53728" y="3364992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 i="0">
                <a:solidFill>
                  <a:srgbClr val="48E2C1"/>
                </a:solidFill>
                <a:latin typeface="Aptos Display"/>
              </a:defRPr>
            </a:pPr>
            <a:r>
              <a:t>REAL-TIME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72016" y="3675887"/>
            <a:ext cx="151790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750" b="0" i="0">
                <a:solidFill>
                  <a:srgbClr val="F4F9FC"/>
                </a:solidFill>
                <a:latin typeface="Aptos"/>
              </a:defRPr>
            </a:pPr>
            <a:r>
              <a:t>energy monitoring is missing in many SMEs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21808" y="4425696"/>
            <a:ext cx="1508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40" b="1" i="0">
                <a:solidFill>
                  <a:srgbClr val="539DFF"/>
                </a:solidFill>
                <a:latin typeface="Aptos"/>
              </a:defRPr>
            </a:pPr>
            <a:r>
              <a:t>FactoryMind’s positioning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0256" y="4389120"/>
            <a:ext cx="42611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 i="0">
                <a:solidFill>
                  <a:srgbClr val="F4F9FC"/>
                </a:solidFill>
                <a:latin typeface="Aptos"/>
              </a:defRPr>
            </a:pPr>
            <a:r>
              <a:t>Connect the four decisions in one loop.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58368" y="6400800"/>
            <a:ext cx="10863072" cy="0"/>
          </a:xfrm>
          <a:prstGeom prst="line">
            <a:avLst/>
          </a:prstGeom>
          <a:ln w="10160">
            <a:solidFill>
              <a:srgbClr val="1E3D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58368" y="6473952"/>
            <a:ext cx="6400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40" b="0" i="0">
                <a:solidFill>
                  <a:srgbClr val="97B0BC"/>
                </a:solidFill>
                <a:latin typeface="Aptos"/>
              </a:defRPr>
            </a:pPr>
            <a:r>
              <a:t>Challenge fit • user context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6473952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 i="0">
                <a:solidFill>
                  <a:srgbClr val="4CE3C2"/>
                </a:solidFill>
                <a:latin typeface="Aptos"/>
              </a:defRPr>
            </a:pPr>
            <a:r>
              <a:t>TEAM FLUXFORGE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5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3200400" cy="3200400"/>
          </a:xfrm>
          <a:prstGeom prst="ellipse">
            <a:avLst/>
          </a:prstGeom>
          <a:solidFill>
            <a:srgbClr val="48E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577840"/>
            <a:ext cx="2194560" cy="2194560"/>
          </a:xfrm>
          <a:prstGeom prst="ellipse">
            <a:avLst/>
          </a:prstGeom>
          <a:solidFill>
            <a:srgbClr val="53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19" b="1" i="0">
                <a:solidFill>
                  <a:srgbClr val="48E2C1"/>
                </a:solidFill>
                <a:latin typeface="Aptos"/>
              </a:defRPr>
            </a:pPr>
            <a:r>
              <a:t>FACTORYMIND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81360" y="310896"/>
            <a:ext cx="640080" cy="0"/>
          </a:xfrm>
          <a:prstGeom prst="line">
            <a:avLst/>
          </a:prstGeom>
          <a:ln w="26670">
            <a:solidFill>
              <a:srgbClr val="48E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03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1" i="0">
                <a:solidFill>
                  <a:srgbClr val="48E2C1"/>
                </a:solidFill>
                <a:latin typeface="Aptos"/>
              </a:defRPr>
            </a:pPr>
            <a:r>
              <a:t>02 •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859536"/>
            <a:ext cx="107899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400" b="1" i="0">
                <a:solidFill>
                  <a:srgbClr val="F4F9FC"/>
                </a:solidFill>
                <a:latin typeface="Aptos Display"/>
              </a:defRPr>
            </a:pPr>
            <a:r>
              <a:t>One operating loop from signal → explanation → 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62456"/>
            <a:ext cx="10698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7B0BC"/>
                </a:solidFill>
                <a:latin typeface="Aptos"/>
              </a:defRPr>
            </a:pPr>
            <a:r>
              <a:t>FactoryMind turns fragmented machine, operational and energy evidence into one traceable decision.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1399032"/>
            <a:ext cx="10863072" cy="0"/>
          </a:xfrm>
          <a:prstGeom prst="line">
            <a:avLst/>
          </a:prstGeom>
          <a:ln w="12700">
            <a:solidFill>
              <a:srgbClr val="1E3D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18520" y="59436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80" b="1" i="0">
                <a:solidFill>
                  <a:srgbClr val="97B0B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938528"/>
            <a:ext cx="1810512" cy="1298448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48E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103120"/>
            <a:ext cx="329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19" b="1" i="0">
                <a:solidFill>
                  <a:srgbClr val="48E2C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423160"/>
            <a:ext cx="1481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19" b="1" i="0">
                <a:solidFill>
                  <a:srgbClr val="F4F9FC"/>
                </a:solidFill>
                <a:latin typeface="Aptos"/>
              </a:defRPr>
            </a:pPr>
            <a:r>
              <a:t>SENSE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761488"/>
            <a:ext cx="15179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80" b="0" i="0">
                <a:solidFill>
                  <a:srgbClr val="97B0BC"/>
                </a:solidFill>
                <a:latin typeface="Aptos"/>
              </a:defRPr>
            </a:pPr>
            <a:r>
              <a:t>Machine + process signals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3744" y="2578608"/>
            <a:ext cx="237743" cy="0"/>
          </a:xfrm>
          <a:prstGeom prst="line">
            <a:avLst/>
          </a:prstGeom>
          <a:ln w="21590">
            <a:solidFill>
              <a:srgbClr val="1E3D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2706623" y="2514600"/>
            <a:ext cx="155448" cy="128016"/>
          </a:xfrm>
          <a:prstGeom prst="triangle">
            <a:avLst/>
          </a:prstGeom>
          <a:solidFill>
            <a:srgbClr val="1E3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907792" y="1938528"/>
            <a:ext cx="1810512" cy="1298448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53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35808" y="2103120"/>
            <a:ext cx="329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19" b="1" i="0">
                <a:solidFill>
                  <a:srgbClr val="539D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35808" y="2423160"/>
            <a:ext cx="1481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19" b="1" i="0">
                <a:solidFill>
                  <a:srgbClr val="F4F9FC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5808" y="2761488"/>
            <a:ext cx="15179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80" b="0" i="0">
                <a:solidFill>
                  <a:srgbClr val="97B0BC"/>
                </a:solidFill>
                <a:latin typeface="Aptos"/>
              </a:defRPr>
            </a:pPr>
            <a:r>
              <a:t>Risk, anomaly, wear, health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18304" y="2578608"/>
            <a:ext cx="237744" cy="0"/>
          </a:xfrm>
          <a:prstGeom prst="line">
            <a:avLst/>
          </a:prstGeom>
          <a:ln w="21590">
            <a:solidFill>
              <a:srgbClr val="1E3D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4901184" y="2514600"/>
            <a:ext cx="155448" cy="128016"/>
          </a:xfrm>
          <a:prstGeom prst="triangle">
            <a:avLst/>
          </a:prstGeom>
          <a:solidFill>
            <a:srgbClr val="1E3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02352" y="1938528"/>
            <a:ext cx="1810512" cy="1298448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F4B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30368" y="2103120"/>
            <a:ext cx="329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19" b="1" i="0">
                <a:solidFill>
                  <a:srgbClr val="F4BA4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2423160"/>
            <a:ext cx="1481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19" b="1" i="0">
                <a:solidFill>
                  <a:srgbClr val="F4F9FC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2761488"/>
            <a:ext cx="15179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80" b="0" i="0">
                <a:solidFill>
                  <a:srgbClr val="97B0BC"/>
                </a:solidFill>
                <a:latin typeface="Aptos"/>
              </a:defRPr>
            </a:pPr>
            <a:r>
              <a:t>Criticality, backup, buffer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912864" y="2578608"/>
            <a:ext cx="237744" cy="0"/>
          </a:xfrm>
          <a:prstGeom prst="line">
            <a:avLst/>
          </a:prstGeom>
          <a:ln w="21590">
            <a:solidFill>
              <a:srgbClr val="1E3D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7095744" y="2514600"/>
            <a:ext cx="155448" cy="128016"/>
          </a:xfrm>
          <a:prstGeom prst="triangle">
            <a:avLst/>
          </a:prstGeom>
          <a:solidFill>
            <a:srgbClr val="1E3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296912" y="1938528"/>
            <a:ext cx="1810512" cy="1298448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F26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24928" y="2103120"/>
            <a:ext cx="329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19" b="1" i="0">
                <a:solidFill>
                  <a:srgbClr val="F2666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4928" y="2423160"/>
            <a:ext cx="1481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19" b="1" i="0">
                <a:solidFill>
                  <a:srgbClr val="F4F9FC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4928" y="2761488"/>
            <a:ext cx="15179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80" b="0" i="0">
                <a:solidFill>
                  <a:srgbClr val="97B0BC"/>
                </a:solidFill>
                <a:latin typeface="Aptos"/>
              </a:defRPr>
            </a:pPr>
            <a:r>
              <a:t>Priority, SLA, action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07424" y="2578608"/>
            <a:ext cx="237744" cy="0"/>
          </a:xfrm>
          <a:prstGeom prst="line">
            <a:avLst/>
          </a:prstGeom>
          <a:ln w="21590">
            <a:solidFill>
              <a:srgbClr val="1E3D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5400000">
            <a:off x="9290304" y="2514600"/>
            <a:ext cx="155448" cy="128016"/>
          </a:xfrm>
          <a:prstGeom prst="triangle">
            <a:avLst/>
          </a:prstGeom>
          <a:solidFill>
            <a:srgbClr val="1E3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91472" y="1938528"/>
            <a:ext cx="1810512" cy="1298448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63D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19488" y="2103120"/>
            <a:ext cx="329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19" b="1" i="0">
                <a:solidFill>
                  <a:srgbClr val="63DE9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19488" y="2423160"/>
            <a:ext cx="1481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19" b="1" i="0">
                <a:solidFill>
                  <a:srgbClr val="F4F9FC"/>
                </a:solidFill>
                <a:latin typeface="Aptos"/>
              </a:defRPr>
            </a:pPr>
            <a:r>
              <a:t>OPTIMIZE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19488" y="2761488"/>
            <a:ext cx="15179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80" b="0" i="0">
                <a:solidFill>
                  <a:srgbClr val="97B0BC"/>
                </a:solidFill>
                <a:latin typeface="Aptos"/>
              </a:defRPr>
            </a:pPr>
            <a:r>
              <a:t>What-If + carbon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3858768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 i="0">
                <a:solidFill>
                  <a:srgbClr val="48E2C1"/>
                </a:solidFill>
                <a:latin typeface="Aptos"/>
              </a:defRPr>
            </a:pPr>
            <a:r>
              <a:t>THE OUTPUT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160520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 i="0">
                <a:solidFill>
                  <a:srgbClr val="F4F9FC"/>
                </a:solidFill>
                <a:latin typeface="Aptos Display"/>
              </a:defRPr>
            </a:pPr>
            <a:r>
              <a:t>A factory-ready answer to four questions: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26864"/>
            <a:ext cx="5074920" cy="566928"/>
          </a:xfrm>
          <a:prstGeom prst="roundRect">
            <a:avLst/>
          </a:prstGeom>
          <a:solidFill>
            <a:srgbClr val="07141E"/>
          </a:solidFill>
          <a:ln w="12700">
            <a:solidFill>
              <a:srgbClr val="1E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" y="4718303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0" b="1" i="0">
                <a:solidFill>
                  <a:srgbClr val="48E2C1"/>
                </a:solidFill>
                <a:latin typeface="Aptos"/>
              </a:defRPr>
            </a:pPr>
            <a:r>
              <a:t>Why is it risky?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0" y="4709159"/>
            <a:ext cx="2487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F4F9FC"/>
                </a:solidFill>
                <a:latin typeface="Aptos"/>
              </a:defRPr>
            </a:pPr>
            <a:r>
              <a:t>Evidence + reasons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80759" y="4626864"/>
            <a:ext cx="5074920" cy="566928"/>
          </a:xfrm>
          <a:prstGeom prst="roundRect">
            <a:avLst/>
          </a:prstGeom>
          <a:solidFill>
            <a:srgbClr val="07141E"/>
          </a:solidFill>
          <a:ln w="12700">
            <a:solidFill>
              <a:srgbClr val="1E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27064" y="4718303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0" b="1" i="0">
                <a:solidFill>
                  <a:srgbClr val="F4BA40"/>
                </a:solidFill>
                <a:latin typeface="Aptos"/>
              </a:defRPr>
            </a:pPr>
            <a:r>
              <a:t>How important is it?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19" y="4709159"/>
            <a:ext cx="2487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F4F9FC"/>
                </a:solidFill>
                <a:latin typeface="Aptos"/>
              </a:defRPr>
            </a:pPr>
            <a:r>
              <a:t>Factory context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5340096"/>
            <a:ext cx="5074920" cy="566928"/>
          </a:xfrm>
          <a:prstGeom prst="roundRect">
            <a:avLst/>
          </a:prstGeom>
          <a:solidFill>
            <a:srgbClr val="07141E"/>
          </a:solidFill>
          <a:ln w="12700">
            <a:solidFill>
              <a:srgbClr val="1E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7824" y="5431536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0" b="1" i="0">
                <a:solidFill>
                  <a:srgbClr val="539DFF"/>
                </a:solidFill>
                <a:latin typeface="Aptos"/>
              </a:defRPr>
            </a:pPr>
            <a:r>
              <a:t>What should we do?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26080" y="5422392"/>
            <a:ext cx="2487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F4F9FC"/>
                </a:solidFill>
                <a:latin typeface="Aptos"/>
              </a:defRPr>
            </a:pPr>
            <a:r>
              <a:t>Action + response window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80759" y="5340096"/>
            <a:ext cx="5074920" cy="566928"/>
          </a:xfrm>
          <a:prstGeom prst="roundRect">
            <a:avLst/>
          </a:prstGeom>
          <a:solidFill>
            <a:srgbClr val="07141E"/>
          </a:solidFill>
          <a:ln w="12700">
            <a:solidFill>
              <a:srgbClr val="1E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27064" y="5431536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0" b="1" i="0">
                <a:solidFill>
                  <a:srgbClr val="63DE97"/>
                </a:solidFill>
                <a:latin typeface="Aptos"/>
              </a:defRPr>
            </a:pPr>
            <a:r>
              <a:t>What changes under scenarios?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19" y="5422392"/>
            <a:ext cx="2487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F4F9FC"/>
                </a:solidFill>
                <a:latin typeface="Aptos"/>
              </a:defRPr>
            </a:pPr>
            <a:r>
              <a:t>Resilience + carbon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58368" y="6400800"/>
            <a:ext cx="10863072" cy="0"/>
          </a:xfrm>
          <a:prstGeom prst="line">
            <a:avLst/>
          </a:prstGeom>
          <a:ln w="10160">
            <a:solidFill>
              <a:srgbClr val="1E3D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58368" y="6473952"/>
            <a:ext cx="6400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40" b="0" i="0">
                <a:solidFill>
                  <a:srgbClr val="97B0BC"/>
                </a:solidFill>
                <a:latin typeface="Aptos"/>
              </a:defRPr>
            </a:pPr>
            <a:r>
              <a:t>OBSERVE → EXPLAIN → DECIDE → WHAT-IF → DECARBONIZE → AUDIT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6473952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740" b="0" i="0">
                <a:solidFill>
                  <a:srgbClr val="97B0BC"/>
                </a:solidFill>
                <a:latin typeface="Aptos"/>
              </a:defRPr>
            </a:pPr>
            <a:r>
              <a:t>FactoryMind decision loop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3200400" cy="3200400"/>
          </a:xfrm>
          <a:prstGeom prst="ellipse">
            <a:avLst/>
          </a:prstGeom>
          <a:solidFill>
            <a:srgbClr val="48E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577840"/>
            <a:ext cx="2194560" cy="2194560"/>
          </a:xfrm>
          <a:prstGeom prst="ellipse">
            <a:avLst/>
          </a:prstGeom>
          <a:solidFill>
            <a:srgbClr val="53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19" b="1" i="0">
                <a:solidFill>
                  <a:srgbClr val="48E2C1"/>
                </a:solidFill>
                <a:latin typeface="Aptos"/>
              </a:defRPr>
            </a:pPr>
            <a:r>
              <a:t>FACTORYMIND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81360" y="310896"/>
            <a:ext cx="640080" cy="0"/>
          </a:xfrm>
          <a:prstGeom prst="line">
            <a:avLst/>
          </a:prstGeom>
          <a:ln w="26670">
            <a:solidFill>
              <a:srgbClr val="48E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03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1" i="0">
                <a:solidFill>
                  <a:srgbClr val="48E2C1"/>
                </a:solidFill>
                <a:latin typeface="Aptos"/>
              </a:defRPr>
            </a:pPr>
            <a:r>
              <a:t>03 • TECHNICAL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859536"/>
            <a:ext cx="107899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400" b="1" i="0">
                <a:solidFill>
                  <a:srgbClr val="F4F9FC"/>
                </a:solidFill>
                <a:latin typeface="Aptos Display"/>
              </a:defRPr>
            </a:pPr>
            <a:r>
              <a:t>A modular architecture built around “one source of truth”.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62456"/>
            <a:ext cx="10698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7B0BC"/>
                </a:solidFill>
                <a:latin typeface="Aptos"/>
              </a:defRPr>
            </a:pPr>
            <a:r>
              <a:t>Machine intelligence is consumed as frozen evidence; the decision layer adds factory context without changing the machine state.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1399032"/>
            <a:ext cx="10863072" cy="0"/>
          </a:xfrm>
          <a:prstGeom prst="line">
            <a:avLst/>
          </a:prstGeom>
          <a:ln w="12700">
            <a:solidFill>
              <a:srgbClr val="1E3D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18520" y="59436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80" b="1" i="0">
                <a:solidFill>
                  <a:srgbClr val="97B0B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865376"/>
            <a:ext cx="10698480" cy="877824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48E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2011680"/>
            <a:ext cx="2487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1" i="0">
                <a:solidFill>
                  <a:srgbClr val="48E2C1"/>
                </a:solidFill>
                <a:latin typeface="Aptos"/>
              </a:defRPr>
            </a:pPr>
            <a:r>
              <a:t>MACHINE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020824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20" b="1" i="0">
                <a:solidFill>
                  <a:srgbClr val="F4F9FC"/>
                </a:solidFill>
                <a:latin typeface="Aptos"/>
              </a:defRPr>
            </a:pPr>
            <a:r>
              <a:t>Signals → anomaly/wear → Prototype Risk Index → health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88152" y="2697480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1" i="0">
                <a:solidFill>
                  <a:srgbClr val="97B0BC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80944"/>
            <a:ext cx="10698480" cy="877824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F4B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" y="3127248"/>
            <a:ext cx="2487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1" i="0">
                <a:solidFill>
                  <a:srgbClr val="F4BA40"/>
                </a:solidFill>
                <a:latin typeface="Aptos"/>
              </a:defRPr>
            </a:pPr>
            <a:r>
              <a:t>OPERATIONAL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136391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20" b="1" i="0">
                <a:solidFill>
                  <a:srgbClr val="F4F9FC"/>
                </a:solidFill>
                <a:latin typeface="Aptos"/>
              </a:defRPr>
            </a:pPr>
            <a:r>
              <a:t>Dependency → backup → priority → line position → throughput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88152" y="3813048"/>
            <a:ext cx="320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1" i="0">
                <a:solidFill>
                  <a:srgbClr val="97B0BC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96512"/>
            <a:ext cx="10698480" cy="877824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53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4242816"/>
            <a:ext cx="24871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1" i="0">
                <a:solidFill>
                  <a:srgbClr val="539DFF"/>
                </a:solidFill>
                <a:latin typeface="Aptos"/>
              </a:defRPr>
            </a:pPr>
            <a:r>
              <a:t>DECISION INTERFACE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251960"/>
            <a:ext cx="7205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20" b="1" i="0">
                <a:solidFill>
                  <a:srgbClr val="F4F9FC"/>
                </a:solidFill>
                <a:latin typeface="Aptos"/>
              </a:defRPr>
            </a:pPr>
            <a:r>
              <a:t>Priority → SLA → What-If → carbon → audit export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440680"/>
            <a:ext cx="5029200" cy="548640"/>
          </a:xfrm>
          <a:prstGeom prst="roundRect">
            <a:avLst/>
          </a:prstGeom>
          <a:solidFill>
            <a:srgbClr val="07141E"/>
          </a:solidFill>
          <a:ln w="12700">
            <a:solidFill>
              <a:srgbClr val="1E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59552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40" b="1" i="0">
                <a:solidFill>
                  <a:srgbClr val="539DFF"/>
                </a:solidFill>
                <a:latin typeface="Aptos"/>
              </a:defRPr>
            </a:pPr>
            <a:r>
              <a:t>DATA CONTRACT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541264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 i="0">
                <a:solidFill>
                  <a:srgbClr val="F4F9FC"/>
                </a:solidFill>
                <a:latin typeface="Aptos"/>
              </a:defRPr>
            </a:pPr>
            <a:r>
              <a:t>exact Case / Run record • traceable provenance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0" y="5440680"/>
            <a:ext cx="5440680" cy="548640"/>
          </a:xfrm>
          <a:prstGeom prst="roundRect">
            <a:avLst/>
          </a:prstGeom>
          <a:solidFill>
            <a:srgbClr val="07141E"/>
          </a:solidFill>
          <a:ln w="12700">
            <a:solidFill>
              <a:srgbClr val="1E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1344" y="5559552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40" b="1" i="0">
                <a:solidFill>
                  <a:srgbClr val="63DE97"/>
                </a:solidFill>
                <a:latin typeface="Aptos"/>
              </a:defRPr>
            </a:pPr>
            <a:r>
              <a:t>DEPLOYMENT 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5541264"/>
            <a:ext cx="34564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30" b="1" i="0">
                <a:solidFill>
                  <a:srgbClr val="F4F9FC"/>
                </a:solidFill>
                <a:latin typeface="Aptos"/>
              </a:defRPr>
            </a:pPr>
            <a:r>
              <a:t>plant meter + MES / maintenance data can replace proxies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8368" y="6400800"/>
            <a:ext cx="10863072" cy="0"/>
          </a:xfrm>
          <a:prstGeom prst="line">
            <a:avLst/>
          </a:prstGeom>
          <a:ln w="10160">
            <a:solidFill>
              <a:srgbClr val="1E3D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6473952"/>
            <a:ext cx="6400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40" b="0" i="0">
                <a:solidFill>
                  <a:srgbClr val="97B0BC"/>
                </a:solidFill>
                <a:latin typeface="Aptos"/>
              </a:defRPr>
            </a:pPr>
            <a:r>
              <a:t>Architecture • modular contracts • traceability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6473952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740" b="0" i="0">
                <a:solidFill>
                  <a:srgbClr val="97B0BC"/>
                </a:solidFill>
                <a:latin typeface="Aptos"/>
              </a:defRPr>
            </a:pPr>
            <a:r>
              <a:t>Technical deep dive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5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3200400" cy="3200400"/>
          </a:xfrm>
          <a:prstGeom prst="ellipse">
            <a:avLst/>
          </a:prstGeom>
          <a:solidFill>
            <a:srgbClr val="48E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577840"/>
            <a:ext cx="2194560" cy="2194560"/>
          </a:xfrm>
          <a:prstGeom prst="ellipse">
            <a:avLst/>
          </a:prstGeom>
          <a:solidFill>
            <a:srgbClr val="53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19" b="1" i="0">
                <a:solidFill>
                  <a:srgbClr val="48E2C1"/>
                </a:solidFill>
                <a:latin typeface="Aptos"/>
              </a:defRPr>
            </a:pPr>
            <a:r>
              <a:t>FACTORYMIND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81360" y="310896"/>
            <a:ext cx="640080" cy="0"/>
          </a:xfrm>
          <a:prstGeom prst="line">
            <a:avLst/>
          </a:prstGeom>
          <a:ln w="26670">
            <a:solidFill>
              <a:srgbClr val="48E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03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1" i="0">
                <a:solidFill>
                  <a:srgbClr val="48E2C1"/>
                </a:solidFill>
                <a:latin typeface="Aptos"/>
              </a:defRPr>
            </a:pPr>
            <a:r>
              <a:t>04 • USER JOURNEY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859536"/>
            <a:ext cx="107899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400" b="1" i="0">
                <a:solidFill>
                  <a:srgbClr val="F4F9FC"/>
                </a:solidFill>
                <a:latin typeface="Aptos Display"/>
              </a:defRPr>
            </a:pPr>
            <a:r>
              <a:t>The operator sees the “so what?” — not the raw telemetry.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62456"/>
            <a:ext cx="10698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7B0BC"/>
                </a:solidFill>
                <a:latin typeface="Aptos"/>
              </a:defRPr>
            </a:pPr>
            <a:r>
              <a:t>A decision-centered UX keeps the experience fast: see state → understand why → see business impact → act.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1399032"/>
            <a:ext cx="10863072" cy="0"/>
          </a:xfrm>
          <a:prstGeom prst="line">
            <a:avLst/>
          </a:prstGeom>
          <a:ln w="12700">
            <a:solidFill>
              <a:srgbClr val="1E3D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18520" y="59436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80" b="1" i="0">
                <a:solidFill>
                  <a:srgbClr val="97B0B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993392"/>
            <a:ext cx="2404872" cy="1993392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F4B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2194560"/>
            <a:ext cx="1691640" cy="256032"/>
          </a:xfrm>
          <a:prstGeom prst="roundRect">
            <a:avLst/>
          </a:prstGeom>
          <a:solidFill>
            <a:srgbClr val="07141E"/>
          </a:solidFill>
          <a:ln w="11430">
            <a:solidFill>
              <a:srgbClr val="F4B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203703"/>
            <a:ext cx="16916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720" b="1" i="0">
                <a:solidFill>
                  <a:srgbClr val="F4BA40"/>
                </a:solidFill>
                <a:latin typeface="Aptos"/>
              </a:defRPr>
            </a:pPr>
            <a:r>
              <a:t>PLANT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706624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 i="0">
                <a:solidFill>
                  <a:srgbClr val="F4F9FC"/>
                </a:solidFill>
                <a:latin typeface="Aptos"/>
              </a:defRPr>
            </a:pPr>
            <a:r>
              <a:t>Business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063240"/>
            <a:ext cx="193852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7B0BC"/>
                </a:solidFill>
                <a:latin typeface="Aptos"/>
              </a:defRPr>
            </a:pPr>
            <a:r>
              <a:t>“Do we risk the line?”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36391" y="2999232"/>
            <a:ext cx="164592" cy="0"/>
          </a:xfrm>
          <a:prstGeom prst="line">
            <a:avLst/>
          </a:prstGeom>
          <a:ln w="21590">
            <a:solidFill>
              <a:srgbClr val="1E3D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3246119" y="2935224"/>
            <a:ext cx="155448" cy="128016"/>
          </a:xfrm>
          <a:prstGeom prst="triangle">
            <a:avLst/>
          </a:prstGeom>
          <a:solidFill>
            <a:srgbClr val="1E3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29000" y="1993392"/>
            <a:ext cx="2404872" cy="1993392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53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93592" y="2194560"/>
            <a:ext cx="1691640" cy="256032"/>
          </a:xfrm>
          <a:prstGeom prst="roundRect">
            <a:avLst/>
          </a:prstGeom>
          <a:solidFill>
            <a:srgbClr val="07141E"/>
          </a:solidFill>
          <a:ln w="11430">
            <a:solidFill>
              <a:srgbClr val="53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3592" y="2203703"/>
            <a:ext cx="16916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720" b="1" i="0">
                <a:solidFill>
                  <a:srgbClr val="539DFF"/>
                </a:solidFill>
                <a:latin typeface="Aptos"/>
              </a:defRPr>
            </a:pPr>
            <a:r>
              <a:t>MAINTENANCE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3592" y="2706624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 i="0">
                <a:solidFill>
                  <a:srgbClr val="F4F9FC"/>
                </a:solidFill>
                <a:latin typeface="Aptos"/>
              </a:defRPr>
            </a:pPr>
            <a:r>
              <a:t>Intervention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3592" y="3063240"/>
            <a:ext cx="193852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7B0BC"/>
                </a:solidFill>
                <a:latin typeface="Aptos"/>
              </a:defRPr>
            </a:pPr>
            <a:r>
              <a:t>“When can I service it?”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833872" y="2999232"/>
            <a:ext cx="164592" cy="0"/>
          </a:xfrm>
          <a:prstGeom prst="line">
            <a:avLst/>
          </a:prstGeom>
          <a:ln w="21590">
            <a:solidFill>
              <a:srgbClr val="1E3D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5943600" y="2935224"/>
            <a:ext cx="155448" cy="128016"/>
          </a:xfrm>
          <a:prstGeom prst="triangle">
            <a:avLst/>
          </a:prstGeom>
          <a:solidFill>
            <a:srgbClr val="1E3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26480" y="1993392"/>
            <a:ext cx="2404872" cy="1993392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48E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91072" y="2194560"/>
            <a:ext cx="1691640" cy="256032"/>
          </a:xfrm>
          <a:prstGeom prst="roundRect">
            <a:avLst/>
          </a:prstGeom>
          <a:solidFill>
            <a:srgbClr val="07141E"/>
          </a:solidFill>
          <a:ln w="11430">
            <a:solidFill>
              <a:srgbClr val="48E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2203703"/>
            <a:ext cx="16916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720" b="1" i="0">
                <a:solidFill>
                  <a:srgbClr val="48E2C1"/>
                </a:solidFill>
                <a:latin typeface="Aptos"/>
              </a:defRPr>
            </a:pPr>
            <a:r>
              <a:t>OPERATOR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2" y="2706624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 i="0">
                <a:solidFill>
                  <a:srgbClr val="F4F9FC"/>
                </a:solidFill>
                <a:latin typeface="Aptos"/>
              </a:defRPr>
            </a:pPr>
            <a:r>
              <a:t>Immediate 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1072" y="3063240"/>
            <a:ext cx="193852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7B0BC"/>
                </a:solidFill>
                <a:latin typeface="Aptos"/>
              </a:defRPr>
            </a:pPr>
            <a:r>
              <a:t>“What should I do now?”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31352" y="2999232"/>
            <a:ext cx="164592" cy="0"/>
          </a:xfrm>
          <a:prstGeom prst="line">
            <a:avLst/>
          </a:prstGeom>
          <a:ln w="21590">
            <a:solidFill>
              <a:srgbClr val="1E3D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/>
          <p:cNvSpPr/>
          <p:nvPr/>
        </p:nvSpPr>
        <p:spPr>
          <a:xfrm rot="5400000">
            <a:off x="8641080" y="2935224"/>
            <a:ext cx="155448" cy="128016"/>
          </a:xfrm>
          <a:prstGeom prst="triangle">
            <a:avLst/>
          </a:prstGeom>
          <a:solidFill>
            <a:srgbClr val="1E3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823960" y="1993392"/>
            <a:ext cx="2404872" cy="1993392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63D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988552" y="2194560"/>
            <a:ext cx="1691640" cy="256032"/>
          </a:xfrm>
          <a:prstGeom prst="roundRect">
            <a:avLst/>
          </a:prstGeom>
          <a:solidFill>
            <a:srgbClr val="07141E"/>
          </a:solidFill>
          <a:ln w="11430">
            <a:solidFill>
              <a:srgbClr val="63D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88552" y="2203703"/>
            <a:ext cx="16916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720" b="1" i="0">
                <a:solidFill>
                  <a:srgbClr val="63DE97"/>
                </a:solidFill>
                <a:latin typeface="Aptos"/>
              </a:defRPr>
            </a:pPr>
            <a:r>
              <a:t>ENERGY LEAD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8552" y="2706624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 i="0">
                <a:solidFill>
                  <a:srgbClr val="F4F9FC"/>
                </a:solidFill>
                <a:latin typeface="Aptos"/>
              </a:defRPr>
            </a:pPr>
            <a:r>
              <a:t>Efficiency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88552" y="3063240"/>
            <a:ext cx="1938528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7B0BC"/>
                </a:solidFill>
                <a:latin typeface="Aptos"/>
              </a:defRPr>
            </a:pPr>
            <a:r>
              <a:t>“What energy lever is available?”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325112"/>
            <a:ext cx="10698480" cy="1234440"/>
          </a:xfrm>
          <a:prstGeom prst="roundRect">
            <a:avLst/>
          </a:prstGeom>
          <a:solidFill>
            <a:srgbClr val="07141E"/>
          </a:solidFill>
          <a:ln w="12700">
            <a:solidFill>
              <a:srgbClr val="1E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" y="4535424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 i="0">
                <a:solidFill>
                  <a:srgbClr val="48E2C1"/>
                </a:solidFill>
                <a:latin typeface="Aptos"/>
              </a:defRPr>
            </a:pPr>
            <a:r>
              <a:t>ONE SCREEN, FOUR LAYERS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" y="4901184"/>
            <a:ext cx="9966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40" b="1">
                <a:solidFill>
                  <a:srgbClr val="F4F9FC"/>
                </a:solidFill>
                <a:latin typeface="Aptos"/>
              </a:rPr>
              <a:t>Machine </a:t>
            </a:r>
            <a:r>
              <a:rPr sz="1140" b="1">
                <a:solidFill>
                  <a:srgbClr val="48E2C1"/>
                </a:solidFill>
                <a:latin typeface="Aptos"/>
              </a:rPr>
              <a:t>condition</a:t>
            </a:r>
            <a:r>
              <a:rPr sz="1140" b="0">
                <a:solidFill>
                  <a:srgbClr val="97B0BC"/>
                </a:solidFill>
                <a:latin typeface="Aptos"/>
              </a:rPr>
              <a:t>  +  </a:t>
            </a:r>
            <a:r>
              <a:rPr sz="1140" b="1">
                <a:solidFill>
                  <a:srgbClr val="F4F9FC"/>
                </a:solidFill>
                <a:latin typeface="Aptos"/>
              </a:rPr>
              <a:t>Factory </a:t>
            </a:r>
            <a:r>
              <a:rPr sz="1140" b="1">
                <a:solidFill>
                  <a:srgbClr val="F4BA40"/>
                </a:solidFill>
                <a:latin typeface="Aptos"/>
              </a:rPr>
              <a:t>consequence</a:t>
            </a:r>
            <a:r>
              <a:rPr sz="1140" b="0">
                <a:solidFill>
                  <a:srgbClr val="97B0BC"/>
                </a:solidFill>
                <a:latin typeface="Aptos"/>
              </a:rPr>
              <a:t>  +  </a:t>
            </a:r>
            <a:r>
              <a:rPr sz="1140" b="1">
                <a:solidFill>
                  <a:srgbClr val="F4F9FC"/>
                </a:solidFill>
                <a:latin typeface="Aptos"/>
              </a:rPr>
              <a:t>Resilience </a:t>
            </a:r>
            <a:r>
              <a:rPr sz="1140" b="1">
                <a:solidFill>
                  <a:srgbClr val="539DFF"/>
                </a:solidFill>
                <a:latin typeface="Aptos"/>
              </a:rPr>
              <a:t>scenario</a:t>
            </a:r>
            <a:r>
              <a:rPr sz="1140" b="0">
                <a:solidFill>
                  <a:srgbClr val="97B0BC"/>
                </a:solidFill>
                <a:latin typeface="Aptos"/>
              </a:rPr>
              <a:t>  +  </a:t>
            </a:r>
            <a:r>
              <a:rPr sz="1140" b="1">
                <a:solidFill>
                  <a:srgbClr val="F4F9FC"/>
                </a:solidFill>
                <a:latin typeface="Aptos"/>
              </a:rPr>
              <a:t>Carbon </a:t>
            </a:r>
            <a:r>
              <a:rPr sz="1140" b="1">
                <a:solidFill>
                  <a:srgbClr val="63DE97"/>
                </a:solidFill>
                <a:latin typeface="Aptos"/>
              </a:rPr>
              <a:t>lens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" y="5285232"/>
            <a:ext cx="8046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60" b="1" i="0">
                <a:solidFill>
                  <a:srgbClr val="F4F9FC"/>
                </a:solidFill>
                <a:latin typeface="Aptos"/>
              </a:defRPr>
            </a:pPr>
            <a:r>
              <a:t>No alert overload. No black box handoff. One decision moment.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58368" y="6400800"/>
            <a:ext cx="10863072" cy="0"/>
          </a:xfrm>
          <a:prstGeom prst="line">
            <a:avLst/>
          </a:prstGeom>
          <a:ln w="10160">
            <a:solidFill>
              <a:srgbClr val="1E3D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58368" y="6473952"/>
            <a:ext cx="6400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40" b="0" i="0">
                <a:solidFill>
                  <a:srgbClr val="97B0BC"/>
                </a:solidFill>
                <a:latin typeface="Aptos"/>
              </a:defRPr>
            </a:pPr>
            <a:r>
              <a:t>Target users • value journey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6473952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740" b="0" i="0">
                <a:solidFill>
                  <a:srgbClr val="97B0BC"/>
                </a:solidFill>
                <a:latin typeface="Aptos"/>
              </a:defRPr>
            </a:pPr>
            <a:r>
              <a:t>Human-centered product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3200400" cy="3200400"/>
          </a:xfrm>
          <a:prstGeom prst="ellipse">
            <a:avLst/>
          </a:prstGeom>
          <a:solidFill>
            <a:srgbClr val="48E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577840"/>
            <a:ext cx="2194560" cy="2194560"/>
          </a:xfrm>
          <a:prstGeom prst="ellipse">
            <a:avLst/>
          </a:prstGeom>
          <a:solidFill>
            <a:srgbClr val="53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19" b="1" i="0">
                <a:solidFill>
                  <a:srgbClr val="48E2C1"/>
                </a:solidFill>
                <a:latin typeface="Aptos"/>
              </a:defRPr>
            </a:pPr>
            <a:r>
              <a:t>FACTORYMIND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81360" y="310896"/>
            <a:ext cx="640080" cy="0"/>
          </a:xfrm>
          <a:prstGeom prst="line">
            <a:avLst/>
          </a:prstGeom>
          <a:ln w="26670">
            <a:solidFill>
              <a:srgbClr val="48E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03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1" i="0">
                <a:solidFill>
                  <a:srgbClr val="48E2C1"/>
                </a:solidFill>
                <a:latin typeface="Aptos"/>
              </a:defRPr>
            </a:pPr>
            <a:r>
              <a:t>05 • PRODUCT 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859536"/>
            <a:ext cx="107899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400" b="1" i="0">
                <a:solidFill>
                  <a:srgbClr val="F4F9FC"/>
                </a:solidFill>
                <a:latin typeface="Aptos Display"/>
              </a:defRPr>
            </a:pPr>
            <a:r>
              <a:t>The live dashboard makes the decision visible in seconds.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62456"/>
            <a:ext cx="10698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7B0BC"/>
                </a:solidFill>
                <a:latin typeface="Aptos"/>
              </a:defRPr>
            </a:pPr>
            <a:r>
              <a:t>Wide product view: machine state, factory context, scenario controls and traceability in one command center.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1399032"/>
            <a:ext cx="10863072" cy="0"/>
          </a:xfrm>
          <a:prstGeom prst="line">
            <a:avLst/>
          </a:prstGeom>
          <a:ln w="12700">
            <a:solidFill>
              <a:srgbClr val="1E3D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18520" y="59436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80" b="1" i="0">
                <a:solidFill>
                  <a:srgbClr val="97B0B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" y="5907024"/>
            <a:ext cx="1024128" cy="256032"/>
          </a:xfrm>
          <a:prstGeom prst="roundRect">
            <a:avLst/>
          </a:prstGeom>
          <a:solidFill>
            <a:srgbClr val="07141E"/>
          </a:solidFill>
          <a:ln w="11430">
            <a:solidFill>
              <a:srgbClr val="48E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5916168"/>
            <a:ext cx="102412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750" b="1" i="0">
                <a:solidFill>
                  <a:srgbClr val="48E2C1"/>
                </a:solidFill>
                <a:latin typeface="Aptos"/>
              </a:defRPr>
            </a:pPr>
            <a:r>
              <a:t>01 OBSERVE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84831" y="5907024"/>
            <a:ext cx="1078992" cy="256032"/>
          </a:xfrm>
          <a:prstGeom prst="roundRect">
            <a:avLst/>
          </a:prstGeom>
          <a:solidFill>
            <a:srgbClr val="07141E"/>
          </a:solidFill>
          <a:ln w="11430">
            <a:solidFill>
              <a:srgbClr val="53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84831" y="5916168"/>
            <a:ext cx="107899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750" b="1" i="0">
                <a:solidFill>
                  <a:srgbClr val="539DFF"/>
                </a:solidFill>
                <a:latin typeface="Aptos"/>
              </a:defRPr>
            </a:pPr>
            <a:r>
              <a:t>02 EXPLAIN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5907024"/>
            <a:ext cx="987552" cy="256032"/>
          </a:xfrm>
          <a:prstGeom prst="roundRect">
            <a:avLst/>
          </a:prstGeom>
          <a:solidFill>
            <a:srgbClr val="07141E"/>
          </a:solidFill>
          <a:ln w="11430">
            <a:solidFill>
              <a:srgbClr val="F4B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3552" y="5916168"/>
            <a:ext cx="98755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750" b="1" i="0">
                <a:solidFill>
                  <a:srgbClr val="F4BA40"/>
                </a:solidFill>
                <a:latin typeface="Aptos"/>
              </a:defRPr>
            </a:pPr>
            <a:r>
              <a:t>03 DECIDE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5907024"/>
            <a:ext cx="1060704" cy="256032"/>
          </a:xfrm>
          <a:prstGeom prst="roundRect">
            <a:avLst/>
          </a:prstGeom>
          <a:solidFill>
            <a:srgbClr val="07141E"/>
          </a:solidFill>
          <a:ln w="11430">
            <a:solidFill>
              <a:srgbClr val="53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5916168"/>
            <a:ext cx="106070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750" b="1" i="0">
                <a:solidFill>
                  <a:srgbClr val="539DFF"/>
                </a:solidFill>
                <a:latin typeface="Aptos"/>
              </a:defRPr>
            </a:pPr>
            <a:r>
              <a:t>04 WHAT-IF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50408" y="5907024"/>
            <a:ext cx="1389888" cy="256032"/>
          </a:xfrm>
          <a:prstGeom prst="roundRect">
            <a:avLst/>
          </a:prstGeom>
          <a:solidFill>
            <a:srgbClr val="07141E"/>
          </a:solidFill>
          <a:ln w="11430">
            <a:solidFill>
              <a:srgbClr val="63D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5916168"/>
            <a:ext cx="13898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750" b="1" i="0">
                <a:solidFill>
                  <a:srgbClr val="63DE97"/>
                </a:solidFill>
                <a:latin typeface="Aptos"/>
              </a:defRPr>
            </a:pPr>
            <a:r>
              <a:t>05 DECARBONIZE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68312" y="5907024"/>
            <a:ext cx="932688" cy="256032"/>
          </a:xfrm>
          <a:prstGeom prst="roundRect">
            <a:avLst/>
          </a:prstGeom>
          <a:solidFill>
            <a:srgbClr val="07141E"/>
          </a:solidFill>
          <a:ln w="11430">
            <a:solidFill>
              <a:srgbClr val="48E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68312" y="5916168"/>
            <a:ext cx="93268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750" b="1" i="0">
                <a:solidFill>
                  <a:srgbClr val="48E2C1"/>
                </a:solidFill>
                <a:latin typeface="Aptos"/>
              </a:defRPr>
            </a:pPr>
            <a:r>
              <a:t>06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5879592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770" b="0" i="0">
                <a:solidFill>
                  <a:srgbClr val="97B0BC"/>
                </a:solidFill>
                <a:latin typeface="Aptos"/>
              </a:defRPr>
            </a:pPr>
            <a:r>
              <a:t>Judge-ready mode • atomic Case/Run selector • frozen representative states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8368" y="6400800"/>
            <a:ext cx="10863072" cy="0"/>
          </a:xfrm>
          <a:prstGeom prst="line">
            <a:avLst/>
          </a:prstGeom>
          <a:ln w="10160">
            <a:solidFill>
              <a:srgbClr val="1E3D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6473952"/>
            <a:ext cx="6400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40" b="0" i="0">
                <a:solidFill>
                  <a:srgbClr val="97B0BC"/>
                </a:solidFill>
                <a:latin typeface="Aptos"/>
              </a:defRPr>
            </a:pPr>
            <a:r>
              <a:t>Actual dashboard screenshot • wide crop for readability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6473952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740" b="0" i="0">
                <a:solidFill>
                  <a:srgbClr val="97B0BC"/>
                </a:solidFill>
                <a:latin typeface="Aptos"/>
              </a:defRPr>
            </a:pPr>
            <a:r>
              <a:t>Live prototype evidence</a:t>
            </a:r>
          </a:p>
        </p:txBody>
      </p:sp>
      <p:pic>
        <p:nvPicPr>
          <p:cNvPr id="30" name="Picture 29" descr="Screenshot 2026-10-02 1227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993392"/>
            <a:ext cx="6309360" cy="3502152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749808" y="1993392"/>
            <a:ext cx="6309360" cy="3502152"/>
          </a:xfrm>
          <a:prstGeom prst="rect">
            <a:avLst/>
          </a:prstGeom>
          <a:noFill/>
          <a:ln w="11430">
            <a:solidFill>
              <a:srgbClr val="4CE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559552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 b="1">
                <a:solidFill>
                  <a:srgbClr val="4CE3C2"/>
                </a:solidFill>
                <a:latin typeface="Aptos"/>
              </a:defRPr>
            </a:pPr>
            <a:r>
              <a:t>DASHBOARD EVIDENCE  •  MACHINE CONDITION + WHY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5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3200400" cy="3200400"/>
          </a:xfrm>
          <a:prstGeom prst="ellipse">
            <a:avLst/>
          </a:prstGeom>
          <a:solidFill>
            <a:srgbClr val="48E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577840"/>
            <a:ext cx="2194560" cy="2194560"/>
          </a:xfrm>
          <a:prstGeom prst="ellipse">
            <a:avLst/>
          </a:prstGeom>
          <a:solidFill>
            <a:srgbClr val="53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19" b="1" i="0">
                <a:solidFill>
                  <a:srgbClr val="48E2C1"/>
                </a:solidFill>
                <a:latin typeface="Aptos"/>
              </a:defRPr>
            </a:pPr>
            <a:r>
              <a:t>FACTORYMIND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81360" y="310896"/>
            <a:ext cx="640080" cy="0"/>
          </a:xfrm>
          <a:prstGeom prst="line">
            <a:avLst/>
          </a:prstGeom>
          <a:ln w="26670">
            <a:solidFill>
              <a:srgbClr val="48E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03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1" i="0">
                <a:solidFill>
                  <a:srgbClr val="48E2C1"/>
                </a:solidFill>
                <a:latin typeface="Aptos"/>
              </a:defRPr>
            </a:pPr>
            <a:r>
              <a:t>06 • GOLDEN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859536"/>
            <a:ext cx="107899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400" b="1" i="0">
                <a:solidFill>
                  <a:srgbClr val="F4F9FC"/>
                </a:solidFill>
                <a:latin typeface="Aptos Display"/>
              </a:defRPr>
            </a:pPr>
            <a:r>
              <a:t>Case 4 / Run 6: strong machine evidence, then a business decision.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62456"/>
            <a:ext cx="10698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7B0BC"/>
                </a:solidFill>
                <a:latin typeface="Aptos"/>
              </a:defRPr>
            </a:pPr>
            <a:r>
              <a:t>The machine state is frozen; operational context determines the response window.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1399032"/>
            <a:ext cx="10863072" cy="0"/>
          </a:xfrm>
          <a:prstGeom prst="line">
            <a:avLst/>
          </a:prstGeom>
          <a:ln w="12700">
            <a:solidFill>
              <a:srgbClr val="1E3D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18520" y="59436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80" b="1" i="0">
                <a:solidFill>
                  <a:srgbClr val="97B0B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938528"/>
            <a:ext cx="1600200" cy="1207008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1E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048256"/>
            <a:ext cx="13075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10" b="1" i="0">
                <a:solidFill>
                  <a:srgbClr val="97B0BC"/>
                </a:solidFill>
                <a:latin typeface="Aptos"/>
              </a:defRPr>
            </a:pPr>
            <a:r>
              <a:t>RISK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304288"/>
            <a:ext cx="1307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400" b="1" i="0">
                <a:solidFill>
                  <a:srgbClr val="F4F9FC"/>
                </a:solidFill>
                <a:latin typeface="Aptos Display"/>
              </a:defRPr>
            </a:pPr>
            <a:r>
              <a:t>81.1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2889504"/>
            <a:ext cx="13075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60" b="1" i="0">
                <a:solidFill>
                  <a:srgbClr val="48E2C1"/>
                </a:solidFill>
                <a:latin typeface="Aptos"/>
              </a:defRPr>
            </a:pPr>
            <a:r>
              <a:t>prototype indicator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824" y="3054096"/>
            <a:ext cx="1307591" cy="0"/>
          </a:xfrm>
          <a:prstGeom prst="line">
            <a:avLst/>
          </a:prstGeom>
          <a:ln w="27940">
            <a:solidFill>
              <a:srgbClr val="48E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487168" y="1938528"/>
            <a:ext cx="1600200" cy="1207008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1E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33472" y="2048256"/>
            <a:ext cx="13075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10" b="1" i="0">
                <a:solidFill>
                  <a:srgbClr val="97B0BC"/>
                </a:solidFill>
                <a:latin typeface="Aptos"/>
              </a:defRPr>
            </a:pPr>
            <a:r>
              <a:t>HEALTH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33472" y="2304288"/>
            <a:ext cx="1307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400" b="1" i="0">
                <a:solidFill>
                  <a:srgbClr val="F4F9FC"/>
                </a:solidFill>
                <a:latin typeface="Aptos Display"/>
              </a:defRPr>
            </a:pPr>
            <a:r>
              <a:t>18.9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3472" y="2889504"/>
            <a:ext cx="13075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60" b="1" i="0">
                <a:solidFill>
                  <a:srgbClr val="F2666C"/>
                </a:solidFill>
                <a:latin typeface="Aptos"/>
              </a:defRPr>
            </a:pPr>
            <a:r>
              <a:t>critical band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33472" y="3054096"/>
            <a:ext cx="1307592" cy="0"/>
          </a:xfrm>
          <a:prstGeom prst="line">
            <a:avLst/>
          </a:prstGeom>
          <a:ln w="27940">
            <a:solidFill>
              <a:srgbClr val="F266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1520" y="3310128"/>
            <a:ext cx="1600200" cy="1207008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1E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419856"/>
            <a:ext cx="13075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10" b="1" i="0">
                <a:solidFill>
                  <a:srgbClr val="97B0BC"/>
                </a:solidFill>
                <a:latin typeface="Aptos"/>
              </a:defRPr>
            </a:pPr>
            <a:r>
              <a:t>ANOMALY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3675888"/>
            <a:ext cx="1307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400" b="1" i="0">
                <a:solidFill>
                  <a:srgbClr val="F4F9FC"/>
                </a:solidFill>
                <a:latin typeface="Aptos Display"/>
              </a:defRPr>
            </a:pPr>
            <a:r>
              <a:t>81.4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261104"/>
            <a:ext cx="13075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60" b="1" i="0">
                <a:solidFill>
                  <a:srgbClr val="539DFF"/>
                </a:solidFill>
                <a:latin typeface="Aptos"/>
              </a:defRPr>
            </a:pPr>
            <a:r>
              <a:t>signal pattern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77824" y="4425696"/>
            <a:ext cx="1307591" cy="0"/>
          </a:xfrm>
          <a:prstGeom prst="line">
            <a:avLst/>
          </a:prstGeom>
          <a:ln w="27940">
            <a:solidFill>
              <a:srgbClr val="539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487168" y="3310128"/>
            <a:ext cx="1600200" cy="1207008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1E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33472" y="3419856"/>
            <a:ext cx="13075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10" b="1" i="0">
                <a:solidFill>
                  <a:srgbClr val="97B0BC"/>
                </a:solidFill>
                <a:latin typeface="Aptos"/>
              </a:defRPr>
            </a:pPr>
            <a:r>
              <a:t>WEAR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33472" y="3675888"/>
            <a:ext cx="13075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400" b="1" i="0">
                <a:solidFill>
                  <a:srgbClr val="F4F9FC"/>
                </a:solidFill>
                <a:latin typeface="Aptos Display"/>
              </a:defRPr>
            </a:pPr>
            <a:r>
              <a:t>81.6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33472" y="4261104"/>
            <a:ext cx="13075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60" b="1" i="0">
                <a:solidFill>
                  <a:srgbClr val="F4BA40"/>
                </a:solidFill>
                <a:latin typeface="Aptos"/>
              </a:defRPr>
            </a:pPr>
            <a:r>
              <a:t>VB ≈ 0.40 mm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633472" y="4425696"/>
            <a:ext cx="1307592" cy="0"/>
          </a:xfrm>
          <a:prstGeom prst="line">
            <a:avLst/>
          </a:prstGeom>
          <a:ln w="27940">
            <a:solidFill>
              <a:srgbClr val="F4B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370832" y="1938528"/>
            <a:ext cx="2926080" cy="2578608"/>
          </a:xfrm>
          <a:prstGeom prst="roundRect">
            <a:avLst/>
          </a:prstGeom>
          <a:solidFill>
            <a:srgbClr val="0D2635"/>
          </a:solidFill>
          <a:ln w="12700">
            <a:solidFill>
              <a:srgbClr val="1E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0288" y="217627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 i="0">
                <a:solidFill>
                  <a:srgbClr val="539DFF"/>
                </a:solidFill>
                <a:latin typeface="Aptos"/>
              </a:defRPr>
            </a:pPr>
            <a:r>
              <a:t>WHY?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0288" y="2560320"/>
            <a:ext cx="24231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 i="0">
                <a:solidFill>
                  <a:srgbClr val="F4F9FC"/>
                </a:solidFill>
                <a:latin typeface="Aptos Display"/>
              </a:defRPr>
            </a:pPr>
            <a:r>
              <a:t>Acoustic emission + wear + anomaly evidence combine into the machine-risk view.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3547872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40" b="1" i="0">
                <a:solidFill>
                  <a:srgbClr val="48E2C1"/>
                </a:solidFill>
                <a:latin typeface="Aptos"/>
              </a:defRPr>
            </a:pPr>
            <a:r>
              <a:t>Machine 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0288" y="3822191"/>
            <a:ext cx="2423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0" i="0">
                <a:solidFill>
                  <a:srgbClr val="97B0BC"/>
                </a:solidFill>
                <a:latin typeface="Aptos"/>
              </a:defRPr>
            </a:pPr>
            <a:r>
              <a:t>Verify sensor signals and inspect tool condition before the next production run.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89520" y="1938528"/>
            <a:ext cx="3840480" cy="2578608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F26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27264" y="2176272"/>
            <a:ext cx="2514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 i="0">
                <a:solidFill>
                  <a:srgbClr val="F2666C"/>
                </a:solidFill>
                <a:latin typeface="Aptos"/>
              </a:defRPr>
            </a:pPr>
            <a:r>
              <a:t>BASELINE FACTORY SCENARIO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27264" y="254203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 i="0">
                <a:solidFill>
                  <a:srgbClr val="F4F9FC"/>
                </a:solidFill>
                <a:latin typeface="Aptos Display"/>
              </a:defRPr>
            </a:pPr>
            <a:r>
              <a:t>Emergency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27264" y="318211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0">
                <a:solidFill>
                  <a:srgbClr val="97B0BC"/>
                </a:solidFill>
                <a:latin typeface="Aptos"/>
              </a:rPr>
              <a:t>Criticality </a:t>
            </a:r>
            <a:r>
              <a:rPr sz="1120" b="1">
                <a:solidFill>
                  <a:srgbClr val="F4F9FC"/>
                </a:solidFill>
                <a:latin typeface="Aptos"/>
              </a:rPr>
              <a:t>61.0</a:t>
            </a:r>
            <a:r>
              <a:rPr sz="1120" b="0">
                <a:solidFill>
                  <a:srgbClr val="97B0BC"/>
                </a:solidFill>
                <a:latin typeface="Aptos"/>
              </a:rPr>
              <a:t>   PBRI </a:t>
            </a:r>
            <a:r>
              <a:rPr sz="1120" b="1">
                <a:solidFill>
                  <a:srgbClr val="F2666C"/>
                </a:solidFill>
                <a:latin typeface="Aptos"/>
              </a:rPr>
              <a:t>49.5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27264" y="3584448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 i="0">
                <a:solidFill>
                  <a:srgbClr val="F2666C"/>
                </a:solidFill>
                <a:latin typeface="Aptos"/>
              </a:defRPr>
            </a:pPr>
            <a:r>
              <a:t>Immediate response • &lt; 1 hour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27264" y="391363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1" i="0">
                <a:solidFill>
                  <a:srgbClr val="F4F9FC"/>
                </a:solidFill>
                <a:latin typeface="Aptos"/>
              </a:defRPr>
            </a:pPr>
            <a:r>
              <a:t>The machine is risky. The factory consequence makes it urgent.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4864608"/>
            <a:ext cx="10698480" cy="777240"/>
          </a:xfrm>
          <a:prstGeom prst="roundRect">
            <a:avLst/>
          </a:prstGeom>
          <a:solidFill>
            <a:srgbClr val="07141E"/>
          </a:solidFill>
          <a:ln w="12700">
            <a:solidFill>
              <a:srgbClr val="1E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" y="5093208"/>
            <a:ext cx="10012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1">
                <a:solidFill>
                  <a:srgbClr val="48E2C1"/>
                </a:solidFill>
                <a:latin typeface="Aptos"/>
              </a:rPr>
              <a:t>Core insight: </a:t>
            </a:r>
            <a:r>
              <a:rPr sz="1180" b="1">
                <a:solidFill>
                  <a:srgbClr val="F4F9FC"/>
                </a:solidFill>
                <a:latin typeface="Aptos"/>
              </a:rPr>
              <a:t>machine risk is an input to the business decision — not the decision itself.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58368" y="6400800"/>
            <a:ext cx="10863072" cy="0"/>
          </a:xfrm>
          <a:prstGeom prst="line">
            <a:avLst/>
          </a:prstGeom>
          <a:ln w="10160">
            <a:solidFill>
              <a:srgbClr val="1E3D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8368" y="6473952"/>
            <a:ext cx="6400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40" b="0" i="0">
                <a:solidFill>
                  <a:srgbClr val="97B0BC"/>
                </a:solidFill>
                <a:latin typeface="Aptos"/>
              </a:defRPr>
            </a:pPr>
            <a:r>
              <a:t>Golden Demo • frozen and validated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6473952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740" b="0" i="0">
                <a:solidFill>
                  <a:srgbClr val="97B0BC"/>
                </a:solidFill>
                <a:latin typeface="Aptos"/>
              </a:defRPr>
            </a:pPr>
            <a:r>
              <a:t>Case 4 / Run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3200400" cy="3200400"/>
          </a:xfrm>
          <a:prstGeom prst="ellipse">
            <a:avLst/>
          </a:prstGeom>
          <a:solidFill>
            <a:srgbClr val="48E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577840"/>
            <a:ext cx="2194560" cy="2194560"/>
          </a:xfrm>
          <a:prstGeom prst="ellipse">
            <a:avLst/>
          </a:prstGeom>
          <a:solidFill>
            <a:srgbClr val="53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19" b="1" i="0">
                <a:solidFill>
                  <a:srgbClr val="48E2C1"/>
                </a:solidFill>
                <a:latin typeface="Aptos"/>
              </a:defRPr>
            </a:pPr>
            <a:r>
              <a:t>FACTORYMIND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81360" y="310896"/>
            <a:ext cx="640080" cy="0"/>
          </a:xfrm>
          <a:prstGeom prst="line">
            <a:avLst/>
          </a:prstGeom>
          <a:ln w="26670">
            <a:solidFill>
              <a:srgbClr val="48E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03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1" i="0">
                <a:solidFill>
                  <a:srgbClr val="48E2C1"/>
                </a:solidFill>
                <a:latin typeface="Aptos"/>
              </a:defRPr>
            </a:pPr>
            <a:r>
              <a:t>07 • 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859536"/>
            <a:ext cx="107899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400" b="1" i="0">
                <a:solidFill>
                  <a:srgbClr val="F4F9FC"/>
                </a:solidFill>
                <a:latin typeface="Aptos Display"/>
              </a:defRPr>
            </a:pPr>
            <a:r>
              <a:t>Same machine. Different factory context. Different response.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62456"/>
            <a:ext cx="10698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7B0BC"/>
                </a:solidFill>
                <a:latin typeface="Aptos"/>
              </a:defRPr>
            </a:pPr>
            <a:r>
              <a:t>The What-If engine tests resilience without rewriting the underlying machine evidence.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1399032"/>
            <a:ext cx="10863072" cy="0"/>
          </a:xfrm>
          <a:prstGeom prst="line">
            <a:avLst/>
          </a:prstGeom>
          <a:ln w="12700">
            <a:solidFill>
              <a:srgbClr val="1E3D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18520" y="59436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80" b="1" i="0">
                <a:solidFill>
                  <a:srgbClr val="97B0BC"/>
                </a:solidFill>
                <a:latin typeface="Aptos"/>
              </a:defRPr>
            </a:pPr>
            <a:r>
              <a:t>08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8368" y="6400800"/>
            <a:ext cx="10863072" cy="0"/>
          </a:xfrm>
          <a:prstGeom prst="line">
            <a:avLst/>
          </a:prstGeom>
          <a:ln w="10160">
            <a:solidFill>
              <a:srgbClr val="1E3D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6473952"/>
            <a:ext cx="6400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40" b="0" i="0">
                <a:solidFill>
                  <a:srgbClr val="97B0BC"/>
                </a:solidFill>
                <a:latin typeface="Aptos"/>
              </a:defRPr>
            </a:pPr>
            <a:r>
              <a:t>Validated What-If proof • operational context changes, machine evidence does not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6473952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740" b="0" i="0">
                <a:solidFill>
                  <a:srgbClr val="97B0BC"/>
                </a:solidFill>
                <a:latin typeface="Aptos"/>
              </a:defRPr>
            </a:pPr>
            <a:r>
              <a:t>Innovation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993392"/>
            <a:ext cx="6492240" cy="3172968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749808" y="1993392"/>
            <a:ext cx="6492240" cy="3172968"/>
          </a:xfrm>
          <a:prstGeom prst="rect">
            <a:avLst/>
          </a:prstGeom>
          <a:noFill/>
          <a:ln w="11430">
            <a:solidFill>
              <a:srgbClr val="549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" y="5294376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549FFF"/>
                </a:solidFill>
                <a:latin typeface="Aptos"/>
              </a:defRPr>
            </a:pPr>
            <a:r>
              <a:t>LIVE WHAT-IF VIEW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12848" y="5294376"/>
            <a:ext cx="4983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0">
                <a:solidFill>
                  <a:srgbClr val="94ACB9"/>
                </a:solidFill>
                <a:latin typeface="Aptos"/>
              </a:defRPr>
            </a:pPr>
            <a:r>
              <a:t>Operational consequence changes • machine evidence does not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1975104"/>
            <a:ext cx="3246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4CE3C2"/>
                </a:solidFill>
                <a:latin typeface="Aptos"/>
              </a:defRPr>
            </a:pPr>
            <a:r>
              <a:t>THE BUSINESS DIFFERENCE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2249424"/>
            <a:ext cx="3383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3F8FB"/>
                </a:solidFill>
                <a:latin typeface="Aptos"/>
              </a:defRPr>
            </a:pPr>
            <a:r>
              <a:t>Same machine state • different factory response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80960" y="2688336"/>
            <a:ext cx="3639312" cy="1298448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68E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882127" y="2871216"/>
            <a:ext cx="1207008" cy="265176"/>
          </a:xfrm>
          <a:prstGeom prst="roundRect">
            <a:avLst/>
          </a:prstGeom>
          <a:solidFill>
            <a:srgbClr val="07141F"/>
          </a:solidFill>
          <a:ln w="12700">
            <a:solidFill>
              <a:srgbClr val="68E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82127" y="2880360"/>
            <a:ext cx="1207008" cy="2560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68E199"/>
                </a:solidFill>
                <a:latin typeface="Aptos"/>
              </a:defRPr>
            </a:pPr>
            <a:r>
              <a:t>BACKUP 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82127" y="3246120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3F8FB"/>
                </a:solidFill>
                <a:latin typeface="Aptos Display"/>
              </a:defRPr>
            </a:pPr>
            <a:r>
              <a:t>Planned window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82127" y="3657600"/>
            <a:ext cx="2834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1">
                <a:solidFill>
                  <a:srgbClr val="94ACB9"/>
                </a:solidFill>
                <a:latin typeface="Aptos"/>
              </a:defRPr>
            </a:pPr>
            <a:r>
              <a:t>Criticality 44.8   •   PBRI 36.3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0" y="3255264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8E199"/>
                </a:solidFill>
                <a:latin typeface="Aptos"/>
              </a:defRPr>
            </a:pPr>
            <a:r>
              <a:t>&lt; 24h response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680960" y="4169663"/>
            <a:ext cx="3639312" cy="1298448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F26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882127" y="4352544"/>
            <a:ext cx="1207008" cy="265176"/>
          </a:xfrm>
          <a:prstGeom prst="roundRect">
            <a:avLst/>
          </a:prstGeom>
          <a:solidFill>
            <a:srgbClr val="07141F"/>
          </a:solidFill>
          <a:ln w="12700">
            <a:solidFill>
              <a:srgbClr val="F267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82127" y="4361688"/>
            <a:ext cx="1207008" cy="2560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2676C"/>
                </a:solidFill>
                <a:latin typeface="Aptos"/>
              </a:defRPr>
            </a:pPr>
            <a:r>
              <a:t>BACKUP OFF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82127" y="4727448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3F8FB"/>
                </a:solidFill>
                <a:latin typeface="Aptos Display"/>
              </a:defRPr>
            </a:pPr>
            <a:r>
              <a:t>Emergency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82127" y="5138928"/>
            <a:ext cx="2834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40" b="1">
                <a:solidFill>
                  <a:srgbClr val="94ACB9"/>
                </a:solidFill>
                <a:latin typeface="Aptos"/>
              </a:defRPr>
            </a:pPr>
            <a:r>
              <a:t>Criticality 61.0   •   PBRI 49.5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4736592"/>
            <a:ext cx="1005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F2676C"/>
                </a:solidFill>
                <a:latin typeface="Aptos"/>
              </a:defRPr>
            </a:pPr>
            <a:r>
              <a:t>&lt; 1h response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680960" y="5623560"/>
            <a:ext cx="3639312" cy="411480"/>
          </a:xfrm>
          <a:prstGeom prst="roundRect">
            <a:avLst/>
          </a:prstGeom>
          <a:solidFill>
            <a:srgbClr val="07141F"/>
          </a:solidFill>
          <a:ln w="12700">
            <a:solidFill>
              <a:srgbClr val="4CE3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400" y="5687568"/>
            <a:ext cx="345643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60" b="1">
                <a:solidFill>
                  <a:srgbClr val="4CE3C2"/>
                </a:solidFill>
                <a:latin typeface="Aptos"/>
              </a:defRPr>
            </a:pPr>
            <a:r>
              <a:t>RISK STAYS 81.1  •  ONLY FACTORY CONSEQUENCE MOVES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5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194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19" b="1" i="0">
                <a:solidFill>
                  <a:srgbClr val="4CE3C2"/>
                </a:solidFill>
                <a:latin typeface="Aptos"/>
              </a:defRPr>
            </a:pPr>
            <a:r>
              <a:t>FACTORYMIND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881360" y="310896"/>
            <a:ext cx="640080" cy="0"/>
          </a:xfrm>
          <a:prstGeom prst="line">
            <a:avLst/>
          </a:prstGeom>
          <a:ln w="25400">
            <a:solidFill>
              <a:srgbClr val="4CE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58368" y="612648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50" b="1" i="0">
                <a:solidFill>
                  <a:srgbClr val="4CE3C2"/>
                </a:solidFill>
                <a:latin typeface="Aptos"/>
              </a:defRPr>
            </a:pPr>
            <a:r>
              <a:t>08 • DECARBONISATION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86968"/>
            <a:ext cx="10744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350" b="1" i="0">
                <a:solidFill>
                  <a:srgbClr val="F3F8FB"/>
                </a:solidFill>
                <a:latin typeface="Aptos Display"/>
              </a:defRPr>
            </a:pPr>
            <a:r>
              <a:t>Decarbonisation is the operating outcome — not a side dashboard.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716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9" b="0" i="0">
                <a:solidFill>
                  <a:srgbClr val="94ACB9"/>
                </a:solidFill>
                <a:latin typeface="Aptos"/>
              </a:defRPr>
            </a:pPr>
            <a:r>
              <a:t>FactoryMind puts energy, maintenance and production decisions into the same workflow — with transparent scenario assumptions.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" y="1892808"/>
            <a:ext cx="6291072" cy="3412671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68E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938528"/>
            <a:ext cx="6199632" cy="332123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53527" y="1901952"/>
            <a:ext cx="3246120" cy="274320"/>
          </a:xfrm>
          <a:prstGeom prst="roundRect">
            <a:avLst/>
          </a:prstGeom>
          <a:solidFill>
            <a:srgbClr val="0D2635"/>
          </a:solidFill>
          <a:ln w="11430">
            <a:solidFill>
              <a:srgbClr val="68E1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53527" y="1911095"/>
            <a:ext cx="324612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80" b="1" i="0">
                <a:solidFill>
                  <a:srgbClr val="68E199"/>
                </a:solidFill>
                <a:latin typeface="Aptos"/>
              </a:defRPr>
            </a:pPr>
            <a:r>
              <a:t>GOLDEN DEMO • CASE 4 / RUN 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53527" y="2286000"/>
            <a:ext cx="1572768" cy="1124712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1F3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99831" y="239572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 i="0">
                <a:solidFill>
                  <a:srgbClr val="94ACB9"/>
                </a:solidFill>
                <a:latin typeface="Aptos"/>
              </a:defRPr>
            </a:pPr>
            <a:r>
              <a:t>ENERGY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9831" y="2660904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300" b="1" i="0">
                <a:solidFill>
                  <a:srgbClr val="F3F8FB"/>
                </a:solidFill>
                <a:latin typeface="Aptos Display"/>
              </a:defRPr>
            </a:pPr>
            <a:r>
              <a:t>3.972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9831" y="312724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 b="1" i="0">
                <a:solidFill>
                  <a:srgbClr val="68E199"/>
                </a:solidFill>
                <a:latin typeface="Aptos"/>
              </a:defRPr>
            </a:pPr>
            <a:r>
              <a:t>kWh / run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99831" y="3300984"/>
            <a:ext cx="1280161" cy="0"/>
          </a:xfrm>
          <a:prstGeom prst="line">
            <a:avLst/>
          </a:prstGeom>
          <a:ln w="25400">
            <a:solidFill>
              <a:srgbClr val="68E1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400032" y="2286000"/>
            <a:ext cx="1572768" cy="1124712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1F3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46336" y="239572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 i="0">
                <a:solidFill>
                  <a:srgbClr val="94ACB9"/>
                </a:solidFill>
                <a:latin typeface="Aptos"/>
              </a:defRPr>
            </a:pPr>
            <a:r>
              <a:t>CO₂E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6336" y="2660904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300" b="1" i="0">
                <a:solidFill>
                  <a:srgbClr val="F3F8FB"/>
                </a:solidFill>
                <a:latin typeface="Aptos Display"/>
              </a:defRPr>
            </a:pPr>
            <a:r>
              <a:t>2.844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6336" y="312724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 b="1" i="0">
                <a:solidFill>
                  <a:srgbClr val="68E199"/>
                </a:solidFill>
                <a:latin typeface="Aptos"/>
              </a:defRPr>
            </a:pPr>
            <a:r>
              <a:t>kg / run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46336" y="3300984"/>
            <a:ext cx="1280160" cy="0"/>
          </a:xfrm>
          <a:prstGeom prst="line">
            <a:avLst/>
          </a:prstGeom>
          <a:ln w="25400">
            <a:solidFill>
              <a:srgbClr val="68E1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653527" y="3566160"/>
            <a:ext cx="1572768" cy="1124712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1F3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9831" y="3675887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 i="0">
                <a:solidFill>
                  <a:srgbClr val="94ACB9"/>
                </a:solidFill>
                <a:latin typeface="Aptos"/>
              </a:defRPr>
            </a:pPr>
            <a:r>
              <a:t>EFFICIENCY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9831" y="3941063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300" b="1" i="0">
                <a:solidFill>
                  <a:srgbClr val="F3F8FB"/>
                </a:solidFill>
                <a:latin typeface="Aptos Display"/>
              </a:defRPr>
            </a:pPr>
            <a:r>
              <a:t>15%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9831" y="440740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 b="1" i="0">
                <a:solidFill>
                  <a:srgbClr val="549FFF"/>
                </a:solidFill>
                <a:latin typeface="Aptos"/>
              </a:defRPr>
            </a:pPr>
            <a:r>
              <a:t>modeled lever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99831" y="4581144"/>
            <a:ext cx="1280161" cy="0"/>
          </a:xfrm>
          <a:prstGeom prst="line">
            <a:avLst/>
          </a:prstGeom>
          <a:ln w="25400">
            <a:solidFill>
              <a:srgbClr val="549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400032" y="3566160"/>
            <a:ext cx="1572768" cy="1124712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1F3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46336" y="3675887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1" i="0">
                <a:solidFill>
                  <a:srgbClr val="94ACB9"/>
                </a:solidFill>
                <a:latin typeface="Aptos"/>
              </a:defRPr>
            </a:pPr>
            <a:r>
              <a:t>AVOIDED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46336" y="3941063"/>
            <a:ext cx="1280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300" b="1" i="0">
                <a:solidFill>
                  <a:srgbClr val="F3F8FB"/>
                </a:solidFill>
                <a:latin typeface="Aptos Display"/>
              </a:defRPr>
            </a:pPr>
            <a:r>
              <a:t>0.427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46336" y="440740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 b="1" i="0">
                <a:solidFill>
                  <a:srgbClr val="4CE3C2"/>
                </a:solidFill>
                <a:latin typeface="Aptos"/>
              </a:defRPr>
            </a:pPr>
            <a:r>
              <a:t>kgCO₂e / run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546336" y="4581144"/>
            <a:ext cx="1280160" cy="0"/>
          </a:xfrm>
          <a:prstGeom prst="line">
            <a:avLst/>
          </a:prstGeom>
          <a:ln w="25400">
            <a:solidFill>
              <a:srgbClr val="4CE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653527" y="4855464"/>
            <a:ext cx="3319272" cy="640080"/>
          </a:xfrm>
          <a:prstGeom prst="roundRect">
            <a:avLst/>
          </a:prstGeom>
          <a:solidFill>
            <a:srgbClr val="0D2635"/>
          </a:solidFill>
          <a:ln w="12700">
            <a:solidFill>
              <a:srgbClr val="1F3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20" y="4983480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80" b="1" i="0">
                <a:solidFill>
                  <a:srgbClr val="549FFF"/>
                </a:solidFill>
                <a:latin typeface="Aptos"/>
              </a:defRPr>
            </a:pPr>
            <a:r>
              <a:t>DEPLOYMENT KPI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494690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140" b="1" i="0">
                <a:solidFill>
                  <a:srgbClr val="F3F8FB"/>
                </a:solidFill>
                <a:latin typeface="Aptos"/>
              </a:defRPr>
            </a:pPr>
            <a:r>
              <a:t>kWh / unit output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641848"/>
            <a:ext cx="6720840" cy="429768"/>
          </a:xfrm>
          <a:prstGeom prst="roundRect">
            <a:avLst/>
          </a:prstGeom>
          <a:solidFill>
            <a:srgbClr val="0D2635"/>
          </a:solidFill>
          <a:ln w="12700">
            <a:solidFill>
              <a:srgbClr val="1F3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751576"/>
            <a:ext cx="63550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10" b="0" i="0">
                <a:solidFill>
                  <a:srgbClr val="94ACB9"/>
                </a:solidFill>
                <a:latin typeface="Aptos"/>
              </a:defRPr>
            </a:pPr>
            <a:r>
              <a:t>Measured: runtime  •  Assumed: power + grid factor + efficiency opportunity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53527" y="5650992"/>
            <a:ext cx="33375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00" b="0" i="1">
                <a:solidFill>
                  <a:srgbClr val="94ACB9"/>
                </a:solidFill>
                <a:latin typeface="Aptos"/>
              </a:defRPr>
            </a:pPr>
            <a:r>
              <a:t>Carbon figures are scenario estimates until plant electricity-meter data is connected.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8368" y="6400800"/>
            <a:ext cx="10863072" cy="0"/>
          </a:xfrm>
          <a:prstGeom prst="line">
            <a:avLst/>
          </a:prstGeom>
          <a:ln w="10160">
            <a:solidFill>
              <a:srgbClr val="1F3C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8368" y="6473952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60" b="0" i="0">
                <a:solidFill>
                  <a:srgbClr val="94ACB9"/>
                </a:solidFill>
                <a:latin typeface="Aptos"/>
              </a:defRPr>
            </a:pPr>
            <a:r>
              <a:t>FactoryMind • energy + carbon intelligence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5836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 b="1" i="0">
                <a:solidFill>
                  <a:srgbClr val="94ACB9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3200400" cy="3200400"/>
          </a:xfrm>
          <a:prstGeom prst="ellipse">
            <a:avLst/>
          </a:prstGeom>
          <a:solidFill>
            <a:srgbClr val="48E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577840"/>
            <a:ext cx="2194560" cy="2194560"/>
          </a:xfrm>
          <a:prstGeom prst="ellipse">
            <a:avLst/>
          </a:prstGeom>
          <a:solidFill>
            <a:srgbClr val="53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19" b="1" i="0">
                <a:solidFill>
                  <a:srgbClr val="48E2C1"/>
                </a:solidFill>
                <a:latin typeface="Aptos"/>
              </a:defRPr>
            </a:pPr>
            <a:r>
              <a:t>FACTORYMIND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81360" y="310896"/>
            <a:ext cx="640080" cy="0"/>
          </a:xfrm>
          <a:prstGeom prst="line">
            <a:avLst/>
          </a:prstGeom>
          <a:ln w="26670">
            <a:solidFill>
              <a:srgbClr val="48E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03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1" i="0">
                <a:solidFill>
                  <a:srgbClr val="48E2C1"/>
                </a:solidFill>
                <a:latin typeface="Aptos"/>
              </a:defRPr>
            </a:pPr>
            <a:r>
              <a:t>09 • BUSINESS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859536"/>
            <a:ext cx="107899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400" b="1" i="0">
                <a:solidFill>
                  <a:srgbClr val="F3F8FB"/>
                </a:solidFill>
                <a:latin typeface="Aptos Display"/>
              </a:defRPr>
            </a:pPr>
            <a:r>
              <a:t>A low-friction path from decarbonisation pilot to plant-wide intelligence.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62456"/>
            <a:ext cx="10698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7B0BC"/>
                </a:solidFill>
                <a:latin typeface="Aptos"/>
              </a:defRPr>
            </a:pPr>
            <a:r>
              <a:t>We are deliberately not inventing ROI or pricing. The pilot is designed to produce the evidence needed for a real business case.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1399032"/>
            <a:ext cx="10863072" cy="0"/>
          </a:xfrm>
          <a:prstGeom prst="line">
            <a:avLst/>
          </a:prstGeom>
          <a:ln w="12700">
            <a:solidFill>
              <a:srgbClr val="1E3D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18520" y="59436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80" b="1" i="0">
                <a:solidFill>
                  <a:srgbClr val="97B0B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938528"/>
            <a:ext cx="3364992" cy="1536192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48E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2121408"/>
            <a:ext cx="1051560" cy="256032"/>
          </a:xfrm>
          <a:prstGeom prst="roundRect">
            <a:avLst/>
          </a:prstGeom>
          <a:solidFill>
            <a:srgbClr val="07141E"/>
          </a:solidFill>
          <a:ln w="11430">
            <a:solidFill>
              <a:srgbClr val="48E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130551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750" b="1" i="0">
                <a:solidFill>
                  <a:srgbClr val="48E2C1"/>
                </a:solidFill>
                <a:latin typeface="Aptos"/>
              </a:defRPr>
            </a:pPr>
            <a:r>
              <a:t>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2" y="2139696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10" b="1" i="0">
                <a:solidFill>
                  <a:srgbClr val="97B0BC"/>
                </a:solidFill>
                <a:latin typeface="Aptos"/>
              </a:defRPr>
            </a:pPr>
            <a:r>
              <a:t>0–30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578608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19" b="1" i="0">
                <a:solidFill>
                  <a:srgbClr val="F4F9FC"/>
                </a:solidFill>
                <a:latin typeface="Aptos"/>
              </a:defRPr>
            </a:pPr>
            <a:r>
              <a:t>Sensors + meter + baseline KPIs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944368"/>
            <a:ext cx="2834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0" i="0">
                <a:solidFill>
                  <a:srgbClr val="97B0BC"/>
                </a:solidFill>
                <a:latin typeface="Aptos"/>
              </a:defRPr>
            </a:pPr>
            <a:r>
              <a:t>Low-friction proof on one 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407" y="1938528"/>
            <a:ext cx="3364992" cy="1536192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53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1999" y="2121408"/>
            <a:ext cx="1051560" cy="256032"/>
          </a:xfrm>
          <a:prstGeom prst="roundRect">
            <a:avLst/>
          </a:prstGeom>
          <a:solidFill>
            <a:srgbClr val="07141E"/>
          </a:solidFill>
          <a:ln w="11430">
            <a:solidFill>
              <a:srgbClr val="53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1999" y="2130551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750" b="1" i="0">
                <a:solidFill>
                  <a:srgbClr val="539DFF"/>
                </a:solidFill>
                <a:latin typeface="Aptos"/>
              </a:defRPr>
            </a:pPr>
            <a:r>
              <a:t>INTEGRATE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19" y="2139696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10" b="1" i="0">
                <a:solidFill>
                  <a:srgbClr val="97B0BC"/>
                </a:solidFill>
                <a:latin typeface="Aptos"/>
              </a:defRPr>
            </a:pPr>
            <a:r>
              <a:t>30–60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999" y="2578608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19" b="1" i="0">
                <a:solidFill>
                  <a:srgbClr val="F4F9FC"/>
                </a:solidFill>
                <a:latin typeface="Aptos"/>
              </a:defRPr>
            </a:pPr>
            <a:r>
              <a:t>MES + maintenance + topology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944368"/>
            <a:ext cx="2834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0" i="0">
                <a:solidFill>
                  <a:srgbClr val="97B0BC"/>
                </a:solidFill>
                <a:latin typeface="Aptos"/>
              </a:defRPr>
            </a:pPr>
            <a:r>
              <a:t>Connect decisions to work orders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3296" y="1938528"/>
            <a:ext cx="3364992" cy="1536192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63D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47888" y="2121408"/>
            <a:ext cx="1051560" cy="256032"/>
          </a:xfrm>
          <a:prstGeom prst="roundRect">
            <a:avLst/>
          </a:prstGeom>
          <a:solidFill>
            <a:srgbClr val="07141E"/>
          </a:solidFill>
          <a:ln w="11430">
            <a:solidFill>
              <a:srgbClr val="63D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7888" y="2130551"/>
            <a:ext cx="10515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750" b="1" i="0">
                <a:solidFill>
                  <a:srgbClr val="63DE97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2139696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10" b="1" i="0">
                <a:solidFill>
                  <a:srgbClr val="97B0BC"/>
                </a:solidFill>
                <a:latin typeface="Aptos"/>
              </a:defRPr>
            </a:pPr>
            <a:r>
              <a:t>60–90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2578608"/>
            <a:ext cx="2788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19" b="1" i="0">
                <a:solidFill>
                  <a:srgbClr val="F4F9FC"/>
                </a:solidFill>
                <a:latin typeface="Aptos"/>
              </a:defRPr>
            </a:pPr>
            <a:r>
              <a:t>Calibrate + expand 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2944368"/>
            <a:ext cx="2834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0" i="0">
                <a:solidFill>
                  <a:srgbClr val="97B0BC"/>
                </a:solidFill>
                <a:latin typeface="Aptos"/>
              </a:defRPr>
            </a:pPr>
            <a:r>
              <a:t>Turn validated KPIs into rollout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931920"/>
            <a:ext cx="3931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 i="0">
                <a:solidFill>
                  <a:srgbClr val="48E2C1"/>
                </a:solidFill>
                <a:latin typeface="Aptos"/>
              </a:defRPr>
            </a:pPr>
            <a:r>
              <a:t>PILOT KPIs TO VERIFY ON REAL PLANT DATA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279392"/>
            <a:ext cx="2487168" cy="1069848"/>
          </a:xfrm>
          <a:prstGeom prst="roundRect">
            <a:avLst/>
          </a:prstGeom>
          <a:solidFill>
            <a:srgbClr val="07141E"/>
          </a:solidFill>
          <a:ln w="12700">
            <a:solidFill>
              <a:srgbClr val="1E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4453128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1" i="0">
                <a:solidFill>
                  <a:srgbClr val="63DE97"/>
                </a:solidFill>
                <a:latin typeface="Aptos"/>
              </a:defRPr>
            </a:pPr>
            <a:r>
              <a:t>Specific energy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" y="480060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30" b="1" i="0">
                <a:solidFill>
                  <a:srgbClr val="F4F9FC"/>
                </a:solidFill>
                <a:latin typeface="Aptos"/>
              </a:defRPr>
            </a:pPr>
            <a:r>
              <a:t>kWh / unit output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93008" y="4279392"/>
            <a:ext cx="2487168" cy="1069848"/>
          </a:xfrm>
          <a:prstGeom prst="roundRect">
            <a:avLst/>
          </a:prstGeom>
          <a:solidFill>
            <a:srgbClr val="07141E"/>
          </a:solidFill>
          <a:ln w="12700">
            <a:solidFill>
              <a:srgbClr val="1E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39312" y="4453128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1" i="0">
                <a:solidFill>
                  <a:srgbClr val="48E2C1"/>
                </a:solidFill>
                <a:latin typeface="Aptos"/>
              </a:defRPr>
            </a:pPr>
            <a:r>
              <a:t>Unplanned downtime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39312" y="480060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30" b="1" i="0">
                <a:solidFill>
                  <a:srgbClr val="F4F9FC"/>
                </a:solidFill>
                <a:latin typeface="Aptos"/>
              </a:defRPr>
            </a:pPr>
            <a:r>
              <a:t>hours / month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54496" y="4279392"/>
            <a:ext cx="2487168" cy="1069848"/>
          </a:xfrm>
          <a:prstGeom prst="roundRect">
            <a:avLst/>
          </a:prstGeom>
          <a:solidFill>
            <a:srgbClr val="07141E"/>
          </a:solidFill>
          <a:ln w="12700">
            <a:solidFill>
              <a:srgbClr val="1E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453128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1" i="0">
                <a:solidFill>
                  <a:srgbClr val="F4BA40"/>
                </a:solidFill>
                <a:latin typeface="Aptos"/>
              </a:defRPr>
            </a:pPr>
            <a:r>
              <a:t>Scrap / rework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80060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30" b="1" i="0">
                <a:solidFill>
                  <a:srgbClr val="F4F9FC"/>
                </a:solidFill>
                <a:latin typeface="Aptos"/>
              </a:defRPr>
            </a:pPr>
            <a:r>
              <a:t>% / cost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15984" y="4279392"/>
            <a:ext cx="2487168" cy="1069848"/>
          </a:xfrm>
          <a:prstGeom prst="roundRect">
            <a:avLst/>
          </a:prstGeom>
          <a:solidFill>
            <a:srgbClr val="07141E"/>
          </a:solidFill>
          <a:ln w="12700">
            <a:solidFill>
              <a:srgbClr val="1E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62288" y="4453128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1" i="0">
                <a:solidFill>
                  <a:srgbClr val="539DFF"/>
                </a:solidFill>
                <a:latin typeface="Aptos"/>
              </a:defRPr>
            </a:pPr>
            <a:r>
              <a:t>Decision speed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62288" y="480060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30" b="1" i="0">
                <a:solidFill>
                  <a:srgbClr val="F4F9FC"/>
                </a:solidFill>
                <a:latin typeface="Aptos"/>
              </a:defRPr>
            </a:pPr>
            <a:r>
              <a:t>time-to-action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5522976"/>
            <a:ext cx="10698480" cy="502920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1E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" y="5678424"/>
            <a:ext cx="10241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1">
                <a:solidFill>
                  <a:srgbClr val="48E2C1"/>
                </a:solidFill>
                <a:latin typeface="Aptos"/>
              </a:rPr>
              <a:t>Business promise: </a:t>
            </a:r>
            <a:r>
              <a:rPr sz="969" b="1">
                <a:solidFill>
                  <a:srgbClr val="F4F9FC"/>
                </a:solidFill>
                <a:latin typeface="Aptos"/>
              </a:rPr>
              <a:t>make energy, maintenance and operational resilience measurable in the same workflow.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58368" y="6400800"/>
            <a:ext cx="10863072" cy="0"/>
          </a:xfrm>
          <a:prstGeom prst="line">
            <a:avLst/>
          </a:prstGeom>
          <a:ln w="10160">
            <a:solidFill>
              <a:srgbClr val="1E3D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8368" y="6473952"/>
            <a:ext cx="6400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40" b="0" i="0">
                <a:solidFill>
                  <a:srgbClr val="97B0BC"/>
                </a:solidFill>
                <a:latin typeface="Aptos"/>
              </a:defRPr>
            </a:pPr>
            <a:r>
              <a:t>Adoption path • measurable KPIs • no unsupported ROI claims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6473952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740" b="0" i="0">
                <a:solidFill>
                  <a:srgbClr val="97B0BC"/>
                </a:solidFill>
                <a:latin typeface="Aptos"/>
              </a:defRPr>
            </a:pPr>
            <a:r>
              <a:t>Business case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50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3200400" cy="3200400"/>
          </a:xfrm>
          <a:prstGeom prst="ellipse">
            <a:avLst/>
          </a:prstGeom>
          <a:solidFill>
            <a:srgbClr val="48E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577840"/>
            <a:ext cx="2194560" cy="2194560"/>
          </a:xfrm>
          <a:prstGeom prst="ellipse">
            <a:avLst/>
          </a:prstGeom>
          <a:solidFill>
            <a:srgbClr val="53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19" b="1" i="0">
                <a:solidFill>
                  <a:srgbClr val="48E2C1"/>
                </a:solidFill>
                <a:latin typeface="Aptos"/>
              </a:defRPr>
            </a:pPr>
            <a:r>
              <a:t>FACTORYMIND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81360" y="310896"/>
            <a:ext cx="640080" cy="0"/>
          </a:xfrm>
          <a:prstGeom prst="line">
            <a:avLst/>
          </a:prstGeom>
          <a:ln w="26670">
            <a:solidFill>
              <a:srgbClr val="48E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03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1" i="0">
                <a:solidFill>
                  <a:srgbClr val="48E2C1"/>
                </a:solidFill>
                <a:latin typeface="Aptos"/>
              </a:defRPr>
            </a:pPr>
            <a:r>
              <a:t>10 • JUDGING 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859536"/>
            <a:ext cx="107899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400" b="1" i="0">
                <a:solidFill>
                  <a:srgbClr val="F4F9FC"/>
                </a:solidFill>
                <a:latin typeface="Aptos Display"/>
              </a:defRPr>
            </a:pPr>
            <a:r>
              <a:t>Built to be demonstrated, tested and trusted.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62456"/>
            <a:ext cx="10698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7B0BC"/>
                </a:solidFill>
                <a:latin typeface="Aptos"/>
              </a:defRPr>
            </a:pPr>
            <a:r>
              <a:t>The final package is deliberately conservative about claims and explicit about provenance.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1399032"/>
            <a:ext cx="10863072" cy="0"/>
          </a:xfrm>
          <a:prstGeom prst="line">
            <a:avLst/>
          </a:prstGeom>
          <a:ln w="12700">
            <a:solidFill>
              <a:srgbClr val="1E3D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18520" y="59436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80" b="1" i="0">
                <a:solidFill>
                  <a:srgbClr val="97B0B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920240"/>
            <a:ext cx="2487168" cy="932688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48E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2066543"/>
            <a:ext cx="10607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 i="0">
                <a:solidFill>
                  <a:srgbClr val="F4F9FC"/>
                </a:solidFill>
                <a:latin typeface="Aptos Display"/>
              </a:defRPr>
            </a:pPr>
            <a:r>
              <a:t>167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3664" y="2066543"/>
            <a:ext cx="11338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790" b="1" i="0">
                <a:solidFill>
                  <a:srgbClr val="97B0BC"/>
                </a:solidFill>
                <a:latin typeface="Aptos"/>
              </a:defRPr>
            </a:pPr>
            <a:r>
              <a:t>Case/Run records resolved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93008" y="1920240"/>
            <a:ext cx="2487168" cy="932688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63D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9312" y="2066543"/>
            <a:ext cx="10607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 i="0">
                <a:solidFill>
                  <a:srgbClr val="F4F9FC"/>
                </a:solidFill>
                <a:latin typeface="Aptos Display"/>
              </a:defRPr>
            </a:pPr>
            <a:r>
              <a:t>10/10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066543"/>
            <a:ext cx="11338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790" b="1" i="0">
                <a:solidFill>
                  <a:srgbClr val="97B0BC"/>
                </a:solidFill>
                <a:latin typeface="Aptos"/>
              </a:defRPr>
            </a:pPr>
            <a:r>
              <a:t>P4 stress-test checks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1920240"/>
            <a:ext cx="2487168" cy="932688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53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066543"/>
            <a:ext cx="10607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 i="0">
                <a:solidFill>
                  <a:srgbClr val="F4F9FC"/>
                </a:solidFill>
                <a:latin typeface="Aptos Display"/>
              </a:defRPr>
            </a:pPr>
            <a:r>
              <a:t>81.1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066543"/>
            <a:ext cx="11338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790" b="1" i="0">
                <a:solidFill>
                  <a:srgbClr val="97B0BC"/>
                </a:solidFill>
                <a:latin typeface="Aptos"/>
              </a:defRPr>
            </a:pPr>
            <a:r>
              <a:t>Golden machine state restored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15984" y="1920240"/>
            <a:ext cx="2487168" cy="932688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F4B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62288" y="2066543"/>
            <a:ext cx="10607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 i="0">
                <a:solidFill>
                  <a:srgbClr val="F4F9FC"/>
                </a:solidFill>
                <a:latin typeface="Aptos Display"/>
              </a:defRPr>
            </a:pPr>
            <a:r>
              <a:t>61.0 → 44.8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68128" y="2066543"/>
            <a:ext cx="113385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790" b="1" i="0">
                <a:solidFill>
                  <a:srgbClr val="97B0BC"/>
                </a:solidFill>
                <a:latin typeface="Aptos"/>
              </a:defRPr>
            </a:pPr>
            <a:r>
              <a:t>Criticality shift with backup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200400"/>
            <a:ext cx="5074920" cy="896112"/>
          </a:xfrm>
          <a:prstGeom prst="roundRect">
            <a:avLst/>
          </a:prstGeom>
          <a:solidFill>
            <a:srgbClr val="07141E"/>
          </a:solidFill>
          <a:ln w="12700">
            <a:solidFill>
              <a:srgbClr val="1E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337560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0" b="1" i="0">
                <a:solidFill>
                  <a:srgbClr val="48E2C1"/>
                </a:solidFill>
                <a:latin typeface="Aptos"/>
              </a:defRPr>
            </a:pPr>
            <a:r>
              <a:t>VALIDATED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66543" y="3310128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1" i="0">
                <a:solidFill>
                  <a:srgbClr val="F4F9FC"/>
                </a:solidFill>
                <a:latin typeface="Aptos"/>
              </a:defRPr>
            </a:pPr>
            <a:r>
              <a:t>Atomic record selection • frozen Golden Demo • What-If invariance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200400"/>
            <a:ext cx="5074920" cy="896112"/>
          </a:xfrm>
          <a:prstGeom prst="roundRect">
            <a:avLst/>
          </a:prstGeom>
          <a:solidFill>
            <a:srgbClr val="07141E"/>
          </a:solidFill>
          <a:ln w="12700">
            <a:solidFill>
              <a:srgbClr val="1E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1" y="3337560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0" b="1" i="0">
                <a:solidFill>
                  <a:srgbClr val="539DFF"/>
                </a:solidFill>
                <a:latin typeface="Aptos"/>
              </a:defRPr>
            </a:pPr>
            <a:r>
              <a:t>TRACEABLE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98663" y="3310128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1" i="0">
                <a:solidFill>
                  <a:srgbClr val="F4F9FC"/>
                </a:solidFill>
                <a:latin typeface="Aptos"/>
              </a:defRPr>
            </a:pPr>
            <a:r>
              <a:t>Measured / derived / model / scenario labels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279392"/>
            <a:ext cx="5074920" cy="896112"/>
          </a:xfrm>
          <a:prstGeom prst="roundRect">
            <a:avLst/>
          </a:prstGeom>
          <a:solidFill>
            <a:srgbClr val="07141E"/>
          </a:solidFill>
          <a:ln w="12700">
            <a:solidFill>
              <a:srgbClr val="1E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416552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0" b="1" i="0">
                <a:solidFill>
                  <a:srgbClr val="F4BA40"/>
                </a:solidFill>
                <a:latin typeface="Aptos"/>
              </a:defRPr>
            </a:pPr>
            <a:r>
              <a:t>BOUNDED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66543" y="4389120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1" i="0">
                <a:solidFill>
                  <a:srgbClr val="F4F9FC"/>
                </a:solidFill>
                <a:latin typeface="Aptos"/>
              </a:defRPr>
            </a:pPr>
            <a:r>
              <a:t>No calibrated probability claim • no fabricated observed values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279392"/>
            <a:ext cx="5074920" cy="896112"/>
          </a:xfrm>
          <a:prstGeom prst="roundRect">
            <a:avLst/>
          </a:prstGeom>
          <a:solidFill>
            <a:srgbClr val="07141E"/>
          </a:solidFill>
          <a:ln w="12700">
            <a:solidFill>
              <a:srgbClr val="1E3D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1" y="4416552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60" b="1" i="0">
                <a:solidFill>
                  <a:srgbClr val="63DE97"/>
                </a:solidFill>
                <a:latin typeface="Aptos"/>
              </a:defRPr>
            </a:pPr>
            <a:r>
              <a:t>DEPLOYABLE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98663" y="4389120"/>
            <a:ext cx="3474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1" i="0">
                <a:solidFill>
                  <a:srgbClr val="F4F9FC"/>
                </a:solidFill>
                <a:latin typeface="Aptos"/>
              </a:defRPr>
            </a:pPr>
            <a:r>
              <a:t>Scenario proxies can be replaced by plant meters + MES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5486400"/>
            <a:ext cx="10698480" cy="530352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48E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660136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40" b="1" i="0">
                <a:solidFill>
                  <a:srgbClr val="48E2C1"/>
                </a:solidFill>
                <a:latin typeface="Aptos"/>
              </a:defRPr>
            </a:pPr>
            <a:r>
              <a:t>JUDGE MESSAGE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04288" y="5623560"/>
            <a:ext cx="8549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19" b="1" i="0">
                <a:solidFill>
                  <a:srgbClr val="F4F9FC"/>
                </a:solidFill>
                <a:latin typeface="Aptos"/>
              </a:defRPr>
            </a:pPr>
            <a:r>
              <a:t>We expose uncertainty, preserve machine truth, and make the decision logic auditable.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58368" y="6400800"/>
            <a:ext cx="10863072" cy="0"/>
          </a:xfrm>
          <a:prstGeom prst="line">
            <a:avLst/>
          </a:prstGeom>
          <a:ln w="10160">
            <a:solidFill>
              <a:srgbClr val="1E3D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58368" y="6473952"/>
            <a:ext cx="6400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40" b="0" i="0">
                <a:solidFill>
                  <a:srgbClr val="97B0BC"/>
                </a:solidFill>
                <a:latin typeface="Aptos"/>
              </a:defRPr>
            </a:pPr>
            <a:r>
              <a:t>Validation status • 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6473952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740" b="0" i="0">
                <a:solidFill>
                  <a:srgbClr val="97B0BC"/>
                </a:solidFill>
                <a:latin typeface="Aptos"/>
              </a:defRPr>
            </a:pPr>
            <a:r>
              <a:t>Judging proof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7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3200400" cy="3200400"/>
          </a:xfrm>
          <a:prstGeom prst="ellipse">
            <a:avLst/>
          </a:prstGeom>
          <a:solidFill>
            <a:srgbClr val="48E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577840"/>
            <a:ext cx="2194560" cy="2194560"/>
          </a:xfrm>
          <a:prstGeom prst="ellipse">
            <a:avLst/>
          </a:prstGeom>
          <a:solidFill>
            <a:srgbClr val="53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219456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19" b="1" i="0">
                <a:solidFill>
                  <a:srgbClr val="48E2C1"/>
                </a:solidFill>
                <a:latin typeface="Aptos"/>
              </a:defRPr>
            </a:pPr>
            <a:r>
              <a:t>FACTORYMIND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881360" y="310896"/>
            <a:ext cx="640080" cy="0"/>
          </a:xfrm>
          <a:prstGeom prst="line">
            <a:avLst/>
          </a:prstGeom>
          <a:ln w="26670">
            <a:solidFill>
              <a:srgbClr val="48E2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0350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19" b="1" i="0">
                <a:solidFill>
                  <a:srgbClr val="4CE3C2"/>
                </a:solidFill>
                <a:latin typeface="Aptos"/>
              </a:defRPr>
            </a:pPr>
            <a:r>
              <a:t>TEAM FLUXFORGE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859536"/>
            <a:ext cx="107899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 i="0">
                <a:solidFill>
                  <a:srgbClr val="F3F8FB"/>
                </a:solidFill>
                <a:latin typeface="Aptos Display"/>
              </a:defRPr>
            </a:pPr>
            <a:r>
              <a:t>FluxForge — four strengths, one end-to-end product.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62456"/>
            <a:ext cx="10698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0">
                <a:solidFill>
                  <a:srgbClr val="97B0BC"/>
                </a:solidFill>
                <a:latin typeface="Aptos"/>
              </a:defRPr>
            </a:pPr>
            <a:r>
              <a:t>Product, machine intelligence, operational intelligence and frontend execution were built as one system.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1399032"/>
            <a:ext cx="10863072" cy="0"/>
          </a:xfrm>
          <a:prstGeom prst="line">
            <a:avLst/>
          </a:prstGeom>
          <a:ln w="12700">
            <a:solidFill>
              <a:srgbClr val="1E3D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18520" y="594360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80" b="1" i="0">
                <a:solidFill>
                  <a:srgbClr val="97B0B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920240"/>
            <a:ext cx="5074920" cy="1115568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48E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2084832"/>
            <a:ext cx="914400" cy="237744"/>
          </a:xfrm>
          <a:prstGeom prst="roundRect">
            <a:avLst/>
          </a:prstGeom>
          <a:solidFill>
            <a:srgbClr val="07141E"/>
          </a:solidFill>
          <a:ln w="11430">
            <a:solidFill>
              <a:srgbClr val="48E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0939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00" b="1" i="0">
                <a:solidFill>
                  <a:srgbClr val="4CE3C2"/>
                </a:solidFill>
                <a:latin typeface="Aptos"/>
              </a:defRPr>
            </a:pPr>
            <a:r>
              <a:t>TEAM FLUXFORGE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066544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60" b="1" i="0">
                <a:solidFill>
                  <a:srgbClr val="F4F9FC"/>
                </a:solidFill>
                <a:latin typeface="Aptos Display"/>
              </a:defRPr>
            </a:pPr>
            <a:r>
              <a:t>RONIT GODARA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4231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30" b="1" i="0">
                <a:solidFill>
                  <a:srgbClr val="97B0BC"/>
                </a:solidFill>
                <a:latin typeface="Aptos"/>
              </a:defRPr>
            </a:pPr>
            <a:r>
              <a:t>Team Lead • UI / Dashboard Design • Frontend Engineering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920240"/>
            <a:ext cx="5074920" cy="1115568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53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28231" y="2084832"/>
            <a:ext cx="914400" cy="237744"/>
          </a:xfrm>
          <a:prstGeom prst="roundRect">
            <a:avLst/>
          </a:prstGeom>
          <a:solidFill>
            <a:srgbClr val="07141E"/>
          </a:solidFill>
          <a:ln w="11430">
            <a:solidFill>
              <a:srgbClr val="53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1" y="209397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00" b="1" i="0">
                <a:solidFill>
                  <a:srgbClr val="4CE3C2"/>
                </a:solidFill>
                <a:latin typeface="Aptos"/>
              </a:defRPr>
            </a:pPr>
            <a:r>
              <a:t>TEAM FLUXFORGE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066544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60" b="1" i="0">
                <a:solidFill>
                  <a:srgbClr val="F4F9FC"/>
                </a:solidFill>
                <a:latin typeface="Aptos Display"/>
              </a:defRPr>
            </a:pPr>
            <a:r>
              <a:t>YOGIK SHARMA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4231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30" b="1" i="0">
                <a:solidFill>
                  <a:srgbClr val="97B0BC"/>
                </a:solidFill>
                <a:latin typeface="Aptos"/>
              </a:defRPr>
            </a:pPr>
            <a:r>
              <a:t>ML • Backend Engineering • Machine Intelligence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273552"/>
            <a:ext cx="5074920" cy="1115568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F4B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6112" y="3438144"/>
            <a:ext cx="914400" cy="237744"/>
          </a:xfrm>
          <a:prstGeom prst="roundRect">
            <a:avLst/>
          </a:prstGeom>
          <a:solidFill>
            <a:srgbClr val="07141E"/>
          </a:solidFill>
          <a:ln w="11430">
            <a:solidFill>
              <a:srgbClr val="F4B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4472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00" b="1" i="0">
                <a:solidFill>
                  <a:srgbClr val="4CE3C2"/>
                </a:solidFill>
                <a:latin typeface="Aptos"/>
              </a:defRPr>
            </a:pPr>
            <a:r>
              <a:t>TEAM FLUXFORGE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419856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60" b="1" i="0">
                <a:solidFill>
                  <a:srgbClr val="F4F9FC"/>
                </a:solidFill>
                <a:latin typeface="Aptos Display"/>
              </a:defRPr>
            </a:pPr>
            <a:r>
              <a:t>RAKESH KUMAR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377647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30" b="1" i="0">
                <a:solidFill>
                  <a:srgbClr val="97B0BC"/>
                </a:solidFill>
                <a:latin typeface="Aptos"/>
              </a:defRPr>
            </a:pPr>
            <a:r>
              <a:t>Operational Intelligence • Validation • Backend Integration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273552"/>
            <a:ext cx="5074920" cy="1115568"/>
          </a:xfrm>
          <a:prstGeom prst="roundRect">
            <a:avLst/>
          </a:prstGeom>
          <a:solidFill>
            <a:srgbClr val="0A1D2A"/>
          </a:solidFill>
          <a:ln w="12700">
            <a:solidFill>
              <a:srgbClr val="63D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28231" y="3438144"/>
            <a:ext cx="914400" cy="237744"/>
          </a:xfrm>
          <a:prstGeom prst="roundRect">
            <a:avLst/>
          </a:prstGeom>
          <a:solidFill>
            <a:srgbClr val="07141E"/>
          </a:solidFill>
          <a:ln w="11430">
            <a:solidFill>
              <a:srgbClr val="63D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1" y="34472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00" b="1" i="0">
                <a:solidFill>
                  <a:srgbClr val="4CE3C2"/>
                </a:solidFill>
                <a:latin typeface="Aptos"/>
              </a:defRPr>
            </a:pPr>
            <a:r>
              <a:t>TEAM FLUXFORGE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3419856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60" b="1" i="0">
                <a:solidFill>
                  <a:srgbClr val="F4F9FC"/>
                </a:solidFill>
                <a:latin typeface="Aptos Display"/>
              </a:defRPr>
            </a:pPr>
            <a:r>
              <a:t>SHRIKANT JOSHI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377647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30" b="1" i="0">
                <a:solidFill>
                  <a:srgbClr val="97B0BC"/>
                </a:solidFill>
                <a:latin typeface="Aptos"/>
              </a:defRPr>
            </a:pPr>
            <a:r>
              <a:t>Product Strategy • Presentation • Storytelling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892040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 i="0">
                <a:solidFill>
                  <a:srgbClr val="48E2C1"/>
                </a:solidFill>
                <a:latin typeface="Aptos"/>
              </a:defRPr>
            </a:pPr>
            <a:r>
              <a:t>THE FACTORYMIND PROMISE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266944"/>
            <a:ext cx="104241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900" b="1" i="0">
                <a:solidFill>
                  <a:srgbClr val="F3F8FB"/>
                </a:solidFill>
                <a:latin typeface="Aptos Display"/>
              </a:defRPr>
            </a:pPr>
            <a:r>
              <a:t>Predict the risk.  Explain the cause.  Understand the consequence.  Choose the right action.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5925312"/>
            <a:ext cx="1874519" cy="310896"/>
          </a:xfrm>
          <a:prstGeom prst="roundRect">
            <a:avLst/>
          </a:prstGeom>
          <a:solidFill>
            <a:srgbClr val="0A1D2A"/>
          </a:solidFill>
          <a:ln w="11430">
            <a:solidFill>
              <a:srgbClr val="48E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5934456"/>
            <a:ext cx="1874519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800" b="1" i="0">
                <a:solidFill>
                  <a:srgbClr val="4CE3C2"/>
                </a:solidFill>
                <a:latin typeface="Aptos"/>
              </a:defRPr>
            </a:pPr>
            <a:r>
              <a:t>TEAM FLUXFORGE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8368" y="6400800"/>
            <a:ext cx="10863072" cy="0"/>
          </a:xfrm>
          <a:prstGeom prst="line">
            <a:avLst/>
          </a:prstGeom>
          <a:ln w="10160">
            <a:solidFill>
              <a:srgbClr val="1E3D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58368" y="6473952"/>
            <a:ext cx="6400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40" b="0" i="0">
                <a:solidFill>
                  <a:srgbClr val="97B0BC"/>
                </a:solidFill>
                <a:latin typeface="Aptos"/>
              </a:defRPr>
            </a:pPr>
            <a:r>
              <a:t>Ronit Godara • Yogik Sharma • Rakesh Kumar • Shrikant Joshi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6473952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740" b="0" i="0">
                <a:solidFill>
                  <a:srgbClr val="97B0BC"/>
                </a:solidFill>
                <a:latin typeface="Aptos"/>
              </a:defRPr>
            </a:pPr>
            <a:r>
              <a:t>FINAL SUBMISSION •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